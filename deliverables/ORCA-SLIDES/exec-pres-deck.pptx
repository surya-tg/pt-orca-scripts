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457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One Platform.</a:t>
            </a:r>
          </a:p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Six Service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FE2F3"/>
                </a:solidFill>
                <a:latin typeface="Calibri"/>
              </a:rPr>
              <a:t>TechGuard currently runs each service type as a separate manual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27248"/>
            <a:ext cx="54864" cy="3840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6 distinct engagement types — pentest, gap assessment, ISO 27001, tech security assessment, compliance evidence, remediation verification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803904"/>
            <a:ext cx="54864" cy="3840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03904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Each today: bespoke tooling, bespoke planning process, no shared report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54864" cy="3840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Outcome: variable evidence quality, duplicated OPPLAN effort, no cross-engagement data or re-test continuity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57215"/>
            <a:ext cx="54864" cy="3840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57215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Solution: one orchestration platform with plug-in methodology packs — one intake, one OPPLAN engine, one report writer, six packs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CFE2F3"/>
                </a:solidFill>
                <a:latin typeface="Calibri"/>
              </a:rPr>
              <a:t>tg-audit-orchestrator  ·  TechGuard  ·  2026-04-28  ·  Executive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tg-audit-orchestrator — Architecture in Three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60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FE2F3"/>
                </a:solidFill>
                <a:latin typeface="Calibri"/>
              </a:rPr>
              <a:t>Clean dependency rule: T3 → T1 only · T2 orchestrates T1 + T3 · T1 has no upstream dependencies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11430000" cy="2084831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11430000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TIER 1 — EngagementCore  (shared library)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16128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CFE2F3"/>
                </a:solidFill>
                <a:latin typeface="Calibri"/>
              </a:rPr>
              <a:t>no upstream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onsolas"/>
              </a:rPr>
              <a:t>models/objective.py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57276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Objective, ObjectiveStatus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6824" y="157276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onsolas"/>
              </a:rPr>
              <a:t>models/opplan.py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157276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OPPLANMiddleware — 5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157276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onsolas"/>
              </a:rPr>
              <a:t>models/bundle.py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6688" y="1572768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EngagementBundle, ScopePack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66544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onsolas"/>
              </a:rPr>
              <a:t>models/state.py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066544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EngagementState, phase FSM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2066544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onsolas"/>
              </a:rPr>
              <a:t>models/pack.py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066544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MethodologyPack ABC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2066544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onsolas"/>
              </a:rPr>
              <a:t>frameworks/registry.py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6688" y="2066544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FrameworkRegistry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56032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onsolas"/>
              </a:rPr>
              <a:t>agents/report_writer.py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56032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BaseReportWriterAgent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6824" y="256032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onsolas"/>
              </a:rPr>
              <a:t>intake/soundwave.py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256032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IntakeInterview orchestrator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256032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  <a:latin typeface="Consolas"/>
              </a:rPr>
              <a:t>loop.py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256032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EngagementLoop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246120"/>
            <a:ext cx="36576" cy="2560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3264408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1C7293"/>
                </a:solidFill>
                <a:latin typeface="Calibri"/>
              </a:rPr>
              <a:t>↑ imports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3246120"/>
            <a:ext cx="36576" cy="2560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264408"/>
            <a:ext cx="1645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1C7293"/>
                </a:solidFill>
                <a:latin typeface="Calibri"/>
              </a:rPr>
              <a:t>↑ imports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47872"/>
            <a:ext cx="5394960" cy="21579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547872"/>
            <a:ext cx="5394960" cy="34747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584448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TIER 2 — tg-audit-orchestrator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59359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CFE2F3"/>
                </a:solidFill>
                <a:latin typeface="Calibri"/>
              </a:rPr>
              <a:t>orchestration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968496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dispatcher.py — routes to MethodologyPack by engagement_type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session.py — lifecycle management + EngagementID tracking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api/routes.py — Python API; CLI-driven in MVP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Dependencies: T1 (EngagementCore) + T3 (packs via PackDispatcher)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547872"/>
            <a:ext cx="5394960" cy="2157984"/>
          </a:xfrm>
          <a:prstGeom prst="rect">
            <a:avLst/>
          </a:prstGeom>
          <a:solidFill>
            <a:srgbClr val="E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547872"/>
            <a:ext cx="5394960" cy="347472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584448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TIER 3 — Methodology Packs  (6)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593592"/>
            <a:ext cx="1719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CFF0DA"/>
                </a:solidFill>
                <a:latin typeface="Calibri"/>
              </a:rPr>
              <a:t>T1 imports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968496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PentestPack  (Decepticon adversarial logic)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GapAssessmentPack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TechSecurityAssessmentPack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ISO27001AuditPack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ComplianceEvidencePack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RemediationVerificationPack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56248"/>
            <a:ext cx="9144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tg-audit-orchestrator  ·  TechGuard  ·  2026-04-28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556248"/>
            <a:ext cx="1005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Decepticon Becomes the First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60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FE2F3"/>
                </a:solidFill>
                <a:latin typeface="Calibri"/>
              </a:rPr>
              <a:t>Planning engine → EngagementCore · Adversarial logic → PentestPack · 3-phase migration, backward-compatible throughout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5394960" cy="42793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5394960" cy="347472"/>
          </a:xfrm>
          <a:prstGeom prst="rect">
            <a:avLst/>
          </a:prstGeom>
          <a:solidFill>
            <a:srgbClr val="A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Decepticon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One codebase — pentest only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OPPLANMiddleware, Soundwave, EngagementLoop bundled with adversarial logic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Planning machinery is methodology-agnostic today — it just doesn't know it yet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No other engagement type can use the planning engine without forking the codebase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Each new service type would require duplicating the same OPPLAN/state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03030"/>
                </a:solidFill>
                <a:latin typeface="Calibri"/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A03030"/>
                </a:solidFill>
                <a:latin typeface="Calibri"/>
              </a:rPr>
              <a:t>Six service types = six separate tools. No shared evidence schema. No cross-engagement re-test. Planning rebuilt from scratch each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15568"/>
            <a:ext cx="5394960" cy="4279392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115568"/>
            <a:ext cx="5394960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152144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Decepticon tomorrow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572768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Split at a clean architectural boundary — two components, no behavior change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EngagementCore (T1): OPPLANMiddleware + Soundwave + EngagementLoop extracted as shared library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PentestPack (T3): adversarial specialist agents — Decepticon's pentest behavior, unchanged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All 5 remaining packs import the same T1 — zero duplication of planning logic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Decepticon test suite passes at every migration step — no regression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840480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11480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065A82"/>
                </a:solidFill>
                <a:latin typeface="Calibri"/>
              </a:rPr>
              <a:t>One planning kernel. Six packs. Decepticon users see no change. Every new service type is a pack, not a new 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532120"/>
            <a:ext cx="11430000" cy="62179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Phase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557784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E2F3"/>
                </a:solidFill>
                <a:latin typeface="Calibri"/>
              </a:rPr>
              <a:t>Extract EngagementCore from Decepticon — run existing test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57784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3–5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5577840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Phase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557784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E2F3"/>
                </a:solidFill>
                <a:latin typeface="Calibri"/>
              </a:rPr>
              <a:t>Parameterize Decepticon as PentestPack adapter over T1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4424" y="557784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2–3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5577840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C7293"/>
                </a:solidFill>
                <a:latin typeface="Calibri"/>
              </a:rPr>
              <a:t>Phase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557784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FE2F3"/>
                </a:solidFill>
                <a:latin typeface="Calibri"/>
              </a:rPr>
              <a:t>tg-audit-orchestrator scaffold + GapAssessmentPack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68328" y="557784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5–8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56248"/>
            <a:ext cx="9144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tg-audit-orchestrator  ·  TechGuard  ·  2026-04-28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56248"/>
            <a:ext cx="1005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Six Engagement Types, 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60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FE2F3"/>
                </a:solidFill>
                <a:latin typeface="Calibri"/>
              </a:rPr>
              <a:t>Each pack: own phases · own control references · own specialist agents · own report structure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15568"/>
          <a:ext cx="11430000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3017520"/>
                <a:gridCol w="2011680"/>
                <a:gridCol w="2560320"/>
              </a:tblGrid>
              <a:tr h="7341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Pack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 type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phases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Control references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Report output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7341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PentestPack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Penetration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Recon → Enum → Exploit → Post-exploit →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MITRE ATT&amp;CK, CVE, CWE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Attack narrative + finding table</a:t>
                      </a:r>
                    </a:p>
                  </a:txBody>
                  <a:tcPr/>
                </a:tc>
              </a:tr>
              <a:tr h="7341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GapAssessmentPack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Gap assessment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Scoping → Review → Gap analysis → Roadmap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NIST CSF, CIS Controls, custom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Gap register + remediation roadmap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341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TechSecurityAssessmentPack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Tech security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Asset inventory → Scan → Analysis →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CVE, CIS 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Risk-rated finding table</a:t>
                      </a:r>
                    </a:p>
                  </a:txBody>
                  <a:tcPr/>
                </a:tc>
              </a:tr>
              <a:tr h="7341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ISO27001AuditPack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ISO 27001 audit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Clause review → Evidence → NC log → Report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ISO 27001:2022 (93 controls)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NC register + certification-ready report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341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ComplianceEvidencePack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Compliance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Control mapping → Evidence collection →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SOC 2, PCI-DSS, HIPAA, GDPR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Evidence matrix + control narrative</a:t>
                      </a:r>
                    </a:p>
                  </a:txBody>
                  <a:tcPr/>
                </a:tc>
              </a:tr>
              <a:tr h="7341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RemediationVerificationPack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Remediation verification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Prior engagement load → Re-test → Delta report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Cross-engagement finding refs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Delta report vs prior engagement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56248"/>
            <a:ext cx="9144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tg-audit-orchestrator  ·  TechGuard  ·  2026-04-28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556248"/>
            <a:ext cx="1005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From Intake to Report — the Engagement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60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FE2F3"/>
                </a:solidFill>
                <a:latin typeface="Calibri"/>
              </a:rPr>
              <a:t>Every engagement type follows the same path · operator answers intake · platform builds and executes the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1828800" cy="40233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17904"/>
            <a:ext cx="182880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17904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Intake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(Soundwave)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57984"/>
            <a:ext cx="1828800" cy="31638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49424"/>
            <a:ext cx="1645920" cy="2980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Structured interview: client, engagement type, scope, objectives, framework. Generates EngagementID (e.g. PT-ACME-2026-001).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3704" y="2560320"/>
            <a:ext cx="1645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7293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1115568"/>
            <a:ext cx="1828800" cy="40233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1115568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3432" y="1517904"/>
            <a:ext cx="182880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13432" y="1517904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Pack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Dispatch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3432" y="2157984"/>
            <a:ext cx="1828800" cy="31638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04872" y="2249424"/>
            <a:ext cx="1645920" cy="2980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PackDispatcher routes to the correct MethodologyPack based on engagement_type field from intake.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2560320"/>
            <a:ext cx="1645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7293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115568"/>
            <a:ext cx="1828800" cy="40233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1104" y="1115568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1104" y="1517904"/>
            <a:ext cx="182880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1517904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OPPLAN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2157984"/>
            <a:ext cx="1828800" cy="31638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2249424"/>
            <a:ext cx="1645920" cy="2980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OPPLANMiddleware expands engagement into structured objective list — each with phase, control refs, status, assigned agent.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2560320"/>
            <a:ext cx="1645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7293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1115568"/>
            <a:ext cx="1828800" cy="40233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8776" y="1115568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1517904"/>
            <a:ext cx="182880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1517904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Execution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8776" y="2157984"/>
            <a:ext cx="1828800" cy="31638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2249424"/>
            <a:ext cx="1645920" cy="2980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EngagementLoop drives specialist agents through objectives in phase order. Each agent records evidence against its objective.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560320"/>
            <a:ext cx="1645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7293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56448" y="1115568"/>
            <a:ext cx="1828800" cy="40233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6448" y="1115568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56448" y="1517904"/>
            <a:ext cx="182880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8" y="1517904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Report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Write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6448" y="2157984"/>
            <a:ext cx="1828800" cy="31638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2249424"/>
            <a:ext cx="1645920" cy="2980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BaseReportWriterAgent reads completed OPPLAN + bundle → exec summary, finding table, risk matrix, pack-specific narrative sections.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4392" y="2560320"/>
            <a:ext cx="1645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7293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1115568"/>
            <a:ext cx="1828800" cy="40233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20" y="1115568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4120" y="1517904"/>
            <a:ext cx="182880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1517904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04120" y="2157984"/>
            <a:ext cx="1828800" cy="31638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5560" y="2249424"/>
            <a:ext cx="1645920" cy="2980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1295C"/>
                </a:solidFill>
                <a:latin typeface="Calibri"/>
              </a:rPr>
              <a:t>Structured finding stubs + report. Feeds audit-evidence-processor interface for downstream evidence archiving and PT-Orc integration.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556248"/>
            <a:ext cx="9144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tg-audit-orchestrator  ·  TechGuard  ·  2026-04-28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556248"/>
            <a:ext cx="1005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Five-Phase Analysis — What We Now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60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FE2F3"/>
                </a:solidFill>
                <a:latin typeface="Calibri"/>
              </a:rPr>
              <a:t>Complete architectural specification before a line of code is written · commit 23e0f78 · deliverables/DCPTCN_TG/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15568"/>
          <a:ext cx="114300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94960"/>
                <a:gridCol w="3657600"/>
              </a:tblGrid>
              <a:tr h="55517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contains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outputs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Phase 1 — Gap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v0.1 → v0.2 delta; Decepticon landing zones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8 anchors; D-001 + D-002 opened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Phase 2 — Fit assessment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14 direct schema mappings from Decepticon to EngagementCore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D-001 + D-002 closed; 9 anchors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Phase 3 — Generalization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Full EngagementCore library spec; 3-phase migration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Migration timeline; 11 anchors</a:t>
                      </a:r>
                    </a:p>
                  </a:txBody>
                  <a:tcPr/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Phase 4 — Methodology packs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All 6 packs fully defined: phases, control refs, agents, report sections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PackDispatcher design; 9 anchors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Phase 5 — Architecture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 ADRs; three-tier model; MVP scope; repo layout; submodule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D-003 closed; ~16–26 day estimate; 8 anchors</a:t>
                      </a:r>
                    </a:p>
                  </a:txBody>
                  <a:tcPr/>
                </a:tc>
              </a:tr>
              <a:tr h="5551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v0.3 Methodology draft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9-stage TG unified lifecycle with §EM, §MP, §20 resolution; TG-specific placeholders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Produced by ORCA_DOCS; 6 anchors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102352"/>
            <a:ext cx="11430000" cy="62179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193792"/>
            <a:ext cx="110642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Zero open architecture questions. Zero open design decisions. Four ADRs formally closed. Engineering can start immediately after audit-orc v1 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9144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tg-audit-orchestrator  ·  TechGuard  ·  2026-04-28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56248"/>
            <a:ext cx="1005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Gets Built First — and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60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FE2F3"/>
                </a:solidFill>
                <a:latin typeface="Calibri"/>
              </a:rPr>
              <a:t>MVP: PentestPack + GapAssessmentPack · ~16–26 engineering days · fits in first 160–200h of 500h envelope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15568"/>
          <a:ext cx="685800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4663440"/>
                <a:gridCol w="914400"/>
                <a:gridCol w="914400"/>
              </a:tblGrid>
              <a:tr h="392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EngagementCore extraction from Decepticon (Phase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ADR-001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3–5 d</a:t>
                      </a:r>
                    </a:p>
                  </a:txBody>
                  <a:tcPr/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EngagementCore unit tests (OPPLAN FSM, Bundle, State)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ADR-001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incl.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FrameworkRegistry + built-in framework slugs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ADR-002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1–2 d</a:t>
                      </a:r>
                    </a:p>
                  </a:txBody>
                  <a:tcPr/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EngagementID scheme + client_short intake field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ADR-003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incl.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PentestPack adapter over extracted EngagementCore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2–3 d</a:t>
                      </a:r>
                    </a:p>
                  </a:txBody>
                  <a:tcPr/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GapAssessmentPack — validates extension mechanism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5–8 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PackDispatcher with PentestPack + GapAssessmentPack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incl.</a:t>
                      </a:r>
                    </a:p>
                  </a:txBody>
                  <a:tcPr/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Soundwave intake interview (both packs)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incl.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BaseReportWriterAgent + PentestReportWriterAgent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ADR-004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2–3 d</a:t>
                      </a:r>
                    </a:p>
                  </a:txBody>
                  <a:tcPr/>
                </a:tc>
              </a:tr>
              <a:tr h="3923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tg-audit-orchestrator T2 entry point (session + API)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ADR-001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3–5 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909560" y="1115568"/>
            <a:ext cx="3886200" cy="43159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207008"/>
            <a:ext cx="3520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Effort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66420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Calibri"/>
              </a:rPr>
              <a:t>Phase A — EngagementCore 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1664208"/>
            <a:ext cx="822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65A82"/>
                </a:solidFill>
                <a:latin typeface="Calibri"/>
              </a:rPr>
              <a:t>3–5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093976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Calibri"/>
              </a:rPr>
              <a:t>Phase B — PentestPack 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2093976"/>
            <a:ext cx="822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65A82"/>
                </a:solidFill>
                <a:latin typeface="Calibri"/>
              </a:rPr>
              <a:t>2–3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523744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Calibri"/>
              </a:rPr>
              <a:t>Phase C — scaffold + GapAssessmentPack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2523744"/>
            <a:ext cx="822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65A82"/>
                </a:solidFill>
                <a:latin typeface="Calibri"/>
              </a:rPr>
              <a:t>5–8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953512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Calibri"/>
              </a:rPr>
              <a:t>FrameworkRegistry + EngagementID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2953512"/>
            <a:ext cx="822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65A82"/>
                </a:solidFill>
                <a:latin typeface="Calibri"/>
              </a:rPr>
              <a:t>1–2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83280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Calibri"/>
              </a:rPr>
              <a:t>BaseReportWriterAgent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3383280"/>
            <a:ext cx="822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65A82"/>
                </a:solidFill>
                <a:latin typeface="Calibri"/>
              </a:rPr>
              <a:t>2–3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81304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Calibri"/>
              </a:rPr>
              <a:t>Integration + test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3813048"/>
            <a:ext cx="822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65A82"/>
                </a:solidFill>
                <a:latin typeface="Calibri"/>
              </a:rPr>
              <a:t>3–5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4242816"/>
            <a:ext cx="3886200" cy="51206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315968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MVP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315968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~16–26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41264"/>
            <a:ext cx="11430000" cy="6035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614416"/>
            <a:ext cx="50292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21295C"/>
                </a:solidFill>
                <a:latin typeface="Calibri"/>
              </a:rPr>
              <a:t>First action: 1-day discovery spike — move EngagementCore imports into a stub package, run Decepticon test suite. Clean → estimates hold. Issues found → replan before committing.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614416"/>
            <a:ext cx="4389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21295C"/>
                </a:solidFill>
                <a:latin typeface="Calibri"/>
              </a:rPr>
              <a:t>Remaining ~300h (of 500h): packs 3–6, audit-evidence-processor interface, hardening, multi-pack enhancements.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9144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tg-audit-orchestrator  ·  TechGuard  ·  2026-04-28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56248"/>
            <a:ext cx="1005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TechGuard Operators Actually Do With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60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FE2F3"/>
                </a:solidFill>
                <a:latin typeface="Calibri"/>
              </a:rPr>
              <a:t>Four concrete scenarios showing day-to-day platform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5623560" cy="2606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5623560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52144"/>
            <a:ext cx="5404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Pentest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99616"/>
            <a:ext cx="5404104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Calibri"/>
              </a:rPr>
              <a:t>Operator runs intake → platform generates PT-ACME-2026-001 → OPPLAN builds recon/exploit/post-exploit/report objectives → specialist agents execute in phase order → report writer produces MITRE-mapped attack narrative + finding table → finding stubs feed PT-Orc evidence layer.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145536"/>
            <a:ext cx="5623560" cy="57607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3209544"/>
            <a:ext cx="5404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Same pentest quality. Zero manual OPPLAN authoring.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115568"/>
            <a:ext cx="5623560" cy="2606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115568"/>
            <a:ext cx="5623560" cy="347472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1152144"/>
            <a:ext cx="5404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Gap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1499616"/>
            <a:ext cx="5404104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Calibri"/>
              </a:rPr>
              <a:t>Client requests NIST CSF gap review → operator selects GapAssessmentPack at intake → Soundwave captures framework, scope domains, prior assessments → OPPLAN builds control-by-domain objectives → gap analysis agent compares current vs target maturity → report: gap register + prioritised remediation roadmap.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3145536"/>
            <a:ext cx="5623560" cy="576072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3209544"/>
            <a:ext cx="5404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Consistent format every time. No bespoke tooling.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77056"/>
            <a:ext cx="5623560" cy="2606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77056"/>
            <a:ext cx="56235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913632"/>
            <a:ext cx="5404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ISO 27001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261104"/>
            <a:ext cx="5404104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Calibri"/>
              </a:rPr>
              <a:t>Client preparing for certification → ISO27001AuditPack → Soundwave collects ISMS scope, certification body, audit cycle → OPPLAN builds 93-control objective set → evidence collection, interview, and NC-log agents run in sequence → output: NC register + certification-ready report to ISO 27001:2022 clause structure.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07024"/>
            <a:ext cx="5623560" cy="5760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5971032"/>
            <a:ext cx="5404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Certification-ready output. Repeatable across clients.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3877056"/>
            <a:ext cx="5623560" cy="2606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0488" y="3877056"/>
            <a:ext cx="5623560" cy="34747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3913632"/>
            <a:ext cx="5404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Remediation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4261104"/>
            <a:ext cx="5404104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1295C"/>
                </a:solidFill>
                <a:latin typeface="Calibri"/>
              </a:rPr>
              <a:t>6 months after PT-ACME-2026-001 → operator creates RemediationVerification engagement, references prior EngagementID → platform loads original findings, maps to re-test objectives → each finding re-tested independently → report is a delta: fixed / partially fixed / not fixed, with original finding ID in every row.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0488" y="5907024"/>
            <a:ext cx="5623560" cy="57607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5971032"/>
            <a:ext cx="5404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 manual cross-referencing. Full audit trail.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9144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tg-audit-orchestrator  ·  TechGuard  ·  2026-04-28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56248"/>
            <a:ext cx="1005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Three Reasons This Approach Is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60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FE2F3"/>
                </a:solidFill>
                <a:latin typeface="Calibri"/>
              </a:rPr>
              <a:t>The three-tier design is the minimum structure that avoids rebuilding the same problems six times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475488" cy="4754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115568"/>
            <a:ext cx="10652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Decepticon is already the right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17904"/>
            <a:ext cx="10652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Decepticon's planning engine (OPPLANMiddleware, Soundwave, EngagementLoop) is methodology-agnostic today — it just doesn't know it yet.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Extracting EngagementCore doesn't add complexity. It names and formalises what already exists.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Phase A is a refactor, not a rewrite. Decepticon passes its existing test suite at every step.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The 3-day discovery spike de-risks the estimate before any sprint commitment.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52928"/>
            <a:ext cx="475488" cy="475488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85292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52928"/>
            <a:ext cx="10652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6E3A"/>
                </a:solidFill>
                <a:latin typeface="Calibri"/>
              </a:rPr>
              <a:t>The platform is ready because audit-orc v1 is shipping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55264"/>
            <a:ext cx="10652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NAV v1 delivery (the FAST_SPLIT milestone) cleared 2026-04-27 — audit-orc v1 is unblocked.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ERA branding sweep is the last gate before Phase A migration can begin.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The DCPTCN_TG analysis was timed to land at exactly this moment — spec complete, build can start.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No waiting on external dependencies. EngagementCore extraction can begin days after v1 ships.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90288"/>
            <a:ext cx="475488" cy="47548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59028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90288"/>
            <a:ext cx="10652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Submodule architecture protects future flexibility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92624"/>
            <a:ext cx="10652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EngagementCore as a standalone repo (submodule in tg-audit-orchestrator and in Decepticon) means versioning is explicit — no silent schema drift between consumers.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Decepticon can import EngagementCore directly without routing through the orchestrator.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Future consumers (client portal, reporting API, external integrations) can also import T1 directly.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New pack = new file. Core platform unchanged. Extension cost is pack-scoped, not platform-wide.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56248"/>
            <a:ext cx="9144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tg-audit-orchestrator  ·  TechGuard  ·  2026-04-28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56248"/>
            <a:ext cx="1005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The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669280" cy="1115568"/>
          </a:xfrm>
          <a:prstGeom prst="rect">
            <a:avLst/>
          </a:prstGeom>
          <a:solidFill>
            <a:srgbClr val="2E3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261872"/>
            <a:ext cx="5413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One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27632"/>
            <a:ext cx="54132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2F3"/>
                </a:solidFill>
                <a:latin typeface="Calibri"/>
              </a:rPr>
              <a:t>for all 6 TechGuard security engagement types — consistent structure, consistent reports, one planning kernel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170432"/>
            <a:ext cx="5669280" cy="1115568"/>
          </a:xfrm>
          <a:prstGeom prst="rect">
            <a:avLst/>
          </a:prstGeom>
          <a:solidFill>
            <a:srgbClr val="2E3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4536" y="1261872"/>
            <a:ext cx="5413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Decepticon preserved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4536" y="1627632"/>
            <a:ext cx="54132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2F3"/>
                </a:solidFill>
                <a:latin typeface="Calibri"/>
              </a:rPr>
              <a:t>refactored, not replaced — all existing pentest capability retained; PentestPack is Decepticon with a clean boundary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32304"/>
            <a:ext cx="5669280" cy="1115568"/>
          </a:xfrm>
          <a:prstGeom prst="rect">
            <a:avLst/>
          </a:prstGeom>
          <a:solidFill>
            <a:srgbClr val="2E3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523744"/>
            <a:ext cx="5413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Standardised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889504"/>
            <a:ext cx="54132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2F3"/>
                </a:solidFill>
                <a:latin typeface="Calibri"/>
              </a:rPr>
              <a:t>every engagement produces structured findings with stable IDs — feeds PT-Orc and future tooling without manual mapping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432304"/>
            <a:ext cx="5669280" cy="1115568"/>
          </a:xfrm>
          <a:prstGeom prst="rect">
            <a:avLst/>
          </a:prstGeom>
          <a:solidFill>
            <a:srgbClr val="2E3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2523744"/>
            <a:ext cx="5413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Faster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889504"/>
            <a:ext cx="54132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2F3"/>
                </a:solidFill>
                <a:latin typeface="Calibri"/>
              </a:rPr>
              <a:t>operators run intake; platform builds the OPPLAN — no manual objective authoring per engagement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94176"/>
            <a:ext cx="5669280" cy="1115568"/>
          </a:xfrm>
          <a:prstGeom prst="rect">
            <a:avLst/>
          </a:prstGeom>
          <a:solidFill>
            <a:srgbClr val="2E3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785616"/>
            <a:ext cx="5413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Extensible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151376"/>
            <a:ext cx="54132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2F3"/>
                </a:solidFill>
                <a:latin typeface="Calibri"/>
              </a:rPr>
              <a:t>new engagement type = new pack; core platform (T1 + T2) unchanged; six packs today, more later at zero platform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694176"/>
            <a:ext cx="5669280" cy="1115568"/>
          </a:xfrm>
          <a:prstGeom prst="rect">
            <a:avLst/>
          </a:prstGeom>
          <a:solidFill>
            <a:srgbClr val="2E3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3785616"/>
            <a:ext cx="54132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500h envelope confirmed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4151376"/>
            <a:ext cx="54132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2F3"/>
                </a:solidFill>
                <a:latin typeface="Calibri"/>
              </a:rPr>
              <a:t>MVP in ~160–200h (PentestPack + GapAssessmentPack); full 6-pack platform + hardening in the remaining 300h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56048"/>
            <a:ext cx="11247120" cy="1115568"/>
          </a:xfrm>
          <a:prstGeom prst="rect">
            <a:avLst/>
          </a:prstGeom>
          <a:solidFill>
            <a:srgbClr val="2E3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5047488"/>
            <a:ext cx="109910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Specification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413248"/>
            <a:ext cx="1099108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FE2F3"/>
                </a:solidFill>
                <a:latin typeface="Calibri"/>
              </a:rPr>
              <a:t>zero open architecture questions; five ADRs accepted; engineering can start immediately after audit-orc v1 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9144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tg-audit-orchestrator  ·  TechGuard  ·  2026-04-28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56248"/>
            <a:ext cx="1005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TechGuard — What You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60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FE2F3"/>
                </a:solidFill>
                <a:latin typeface="Calibri"/>
              </a:rPr>
              <a:t>Concrete involvement: what to review, write, decide, and provide · these are what make the build go faster and land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15568"/>
            <a:ext cx="11430000" cy="31089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5214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Review + approve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152144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CFE2F3"/>
                </a:solidFill>
                <a:latin typeface="Calibri"/>
              </a:rPr>
              <a:t>your decisions to confirm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426464"/>
          <a:ext cx="11430000" cy="1591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577840"/>
                <a:gridCol w="3840480"/>
              </a:tblGrid>
              <a:tr h="3182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you confirm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31821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Architecture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Read + accept DCPTCN_TG Phases 1–5; confirm no internal blockers to EngagementCore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Unblocks Phase A start — no code written without this</a:t>
                      </a:r>
                    </a:p>
                  </a:txBody>
                  <a:tcPr/>
                </a:tc>
              </a:tr>
              <a:tr h="31821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Pack priority order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Confirm Pentest → Gap → TSA → ISO27001 → Compliance → Remediation matches your client pipeline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D-004 was our recommendation — needs your delivery lead sign-off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8211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EngagementID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Approve PT-ACME-2026-001 format; confirm client_short naming against your CRM/billing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IDs appear in all reports and evidence — changing later is a breaking change</a:t>
                      </a:r>
                    </a:p>
                  </a:txBody>
                  <a:tcPr/>
                </a:tc>
              </a:tr>
              <a:tr h="31821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500h SOW / PO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Issue formal scope-of-work or purchase order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Engineering cannot start without budget confirmation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3090672"/>
            <a:ext cx="11430000" cy="31089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Write + 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127248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CFE2F3"/>
                </a:solidFill>
                <a:latin typeface="Calibri"/>
              </a:rPr>
              <a:t>your contributions to the codebase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56432"/>
            <a:ext cx="54864" cy="43891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3456432"/>
            <a:ext cx="2468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Decepticon internals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694176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1–2 page plain-language doc from your senior Decepticon engineer: what engagement_loop.py does, known circular deps, test coverage gaps.  —  Before Phase A spike — half a day of their time saves us a day of archaeology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456432"/>
            <a:ext cx="54864" cy="43891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3456432"/>
            <a:ext cx="2468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FrameworkRegistry custom slugs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3694176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If you use internal/custom compliance frameworks beyond the 9 built-ins, define their slug names and domain lists.  —  Before GapAssessmentPack interface locks — pre-sprint design task (action A2)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54864" cy="43891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4023360"/>
            <a:ext cx="2468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audit-evidence-processor spec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4261104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Written spec: what output format, fields, and storage contract does your evidence archiving system need?  —  Before interface design — action A1; use PT-Orc evidence schema as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023360"/>
            <a:ext cx="54864" cy="43891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4023360"/>
            <a:ext cx="2468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Soundwave intake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4261104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Review Soundwave interview questions for PentestPack and GapAssessmentPack; flag any mismatches with how you scope real client engagements.  —  Before Phase C — 1–2 hours, comments in a doc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81728"/>
            <a:ext cx="11430000" cy="310896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1830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Provide + enable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718304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CFF0DA"/>
                </a:solidFill>
                <a:latin typeface="Calibri"/>
              </a:rPr>
              <a:t>access and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47488"/>
            <a:ext cx="54864" cy="402336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" y="5047488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Decepticon repo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5285232"/>
            <a:ext cx="5394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Read access to full Decepticon codebase  ·  Immediately — needed for 1-day spike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5047488"/>
            <a:ext cx="54864" cy="402336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5047488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PT-Orc evidence 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5285232"/>
            <a:ext cx="5394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Export or document pt-evidence finding stub format, field names, severity vocabulary  ·  Before A1 interface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541264"/>
            <a:ext cx="54864" cy="402336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5541264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Past engagement data (sanitised)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" y="5779008"/>
            <a:ext cx="5394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One or two past engagement records to validate Soundwave intake and EngagementID format  ·  Before Phase C Soundwave build — can be anonymised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5541264"/>
            <a:ext cx="54864" cy="402336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5541264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Engineer time — Phase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4496" y="5779008"/>
            <a:ext cx="5394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Assign your senior Decepticon engineer for 2–3 days alongside us  ·  Phase A only — they are the source of truth on Decepticon internals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56248"/>
            <a:ext cx="9144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tg-audit-orchestrator  ·  TechGuard  ·  2026-04-28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556248"/>
            <a:ext cx="1005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ERA — Build Phases + Hour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601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FE2F3"/>
                </a:solidFill>
                <a:latin typeface="Calibri"/>
              </a:rPr>
              <a:t>What the 500h pays for · MVP first · full 6-pack platform in the remaining envelope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15568"/>
          <a:ext cx="713232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474720"/>
                <a:gridCol w="640080"/>
                <a:gridCol w="91440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build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Hours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Pre-work spike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Move EngagementCore imports to stub; run Decepticon test suite; confirm or replan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~8h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Phase 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Extract EngagementCore; Decepticon imports from there; all tests pass; no behavior change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3–5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~24–40h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Phase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Parameterize: MethodologyPack ABC; Decepticon becomes PentestPack 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2–3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~16–24h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Phase 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tg-audit-orchestrator T2 scaffold; GapAssessmentPack; PackDispatcher; Soundwave (both packs)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5–8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~40–64h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FrameworkRegistry + EngagementID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9 built-in slugs; EngagementID format; client_short intake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~8–16h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BaseReportWriterAgent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Shared report base; pack section hooks; PentestReportWriterAgent; finding table formatter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2–3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~16–24h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Integration +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End-to-end tests both packs; PackDispatcher routing; EngagementCore unit tests (FSM, bundle, state)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3–5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295C"/>
                          </a:solidFill>
                          <a:latin typeface="Calibri"/>
                        </a:rPr>
                        <a:t>~24–40h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956048"/>
            <a:ext cx="7132320" cy="40233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4114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MVP total  ·  PentestPack + GapAssessmentPack running full lifecycle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5029200"/>
            <a:ext cx="1920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~16–26 d  ·  ~136–208h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115568"/>
            <a:ext cx="3977639" cy="292608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152144"/>
            <a:ext cx="37490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Post-MVP phases  (~300h remaining)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463040"/>
            <a:ext cx="39776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499616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Packs 3–4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719072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TechSecurityAssessmentPack + ISO27001AuditPack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591056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65A82"/>
                </a:solidFill>
                <a:latin typeface="Calibri"/>
              </a:rPr>
              <a:t>~80–100h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2029968"/>
            <a:ext cx="3977639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066544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Packs 5–6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2860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ComplianceEvidencePack + RemediationVerificationPack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157984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65A82"/>
                </a:solidFill>
                <a:latin typeface="Calibri"/>
              </a:rPr>
              <a:t>~80–100h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2596896"/>
            <a:ext cx="3977639" cy="5120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633472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Evidence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85292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audit-evidence-processor contract + PT-Orc schema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724912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65A82"/>
                </a:solidFill>
                <a:latin typeface="Calibri"/>
              </a:rPr>
              <a:t>~40–60h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3163824"/>
            <a:ext cx="3977639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3200400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Hardening +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419856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Error handling, logging, API hardening, operator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3291840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065A82"/>
                </a:solidFill>
                <a:latin typeface="Calibri"/>
              </a:rPr>
              <a:t>~40–60h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3767328"/>
            <a:ext cx="3977639" cy="292608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803904"/>
            <a:ext cx="37490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Full 500h envelope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4114800"/>
            <a:ext cx="3977639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418795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MVP  (Phases A–C + FrameworkRegistry + ReportWriter + tests)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4187952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21295C"/>
                </a:solidFill>
                <a:latin typeface="Calibri"/>
              </a:rPr>
              <a:t>~160–200h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4535424"/>
            <a:ext cx="3977639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4608576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21295C"/>
                </a:solidFill>
                <a:latin typeface="Calibri"/>
              </a:rPr>
              <a:t>Post-MVP packs + evidence interface + hardening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4608576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21295C"/>
                </a:solidFill>
                <a:latin typeface="Calibri"/>
              </a:rPr>
              <a:t>~240–300h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4956048"/>
            <a:ext cx="3977639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79" y="5029200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Buffer / integration / unknowns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502920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~40–60h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5376672"/>
            <a:ext cx="3977639" cy="384048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5422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4223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~500h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870448"/>
            <a:ext cx="11430000" cy="5486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980176"/>
            <a:ext cx="11064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Architecture is done.  Codebase access + 500h authorization is all that's needed to start.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56248"/>
            <a:ext cx="9144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tg-audit-orchestrator  ·  TechGuard  ·  2026-04-28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20095" y="6556248"/>
            <a:ext cx="1005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