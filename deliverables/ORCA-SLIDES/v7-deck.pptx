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834640"/>
            <a:ext cx="12191695" cy="54864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972800" cy="1600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0" b="1" i="0">
                <a:solidFill>
                  <a:srgbClr val="FFFFFF"/>
                </a:solidFill>
                <a:latin typeface="Georgia"/>
              </a:rPr>
              <a:t>ORCa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65960"/>
            <a:ext cx="109728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 i="1">
                <a:solidFill>
                  <a:srgbClr val="CFE2F3"/>
                </a:solidFill>
                <a:latin typeface="Georgia"/>
              </a:rPr>
              <a:t>Cyber-operations platform · TechGuard delivery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063240"/>
            <a:ext cx="10972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>
                <a:solidFill>
                  <a:srgbClr val="CFE2F3"/>
                </a:solidFill>
                <a:latin typeface="Calibri"/>
              </a:rPr>
              <a:t>2026-04-27  ·  Technical Lead Briefing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852160"/>
            <a:ext cx="10972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1">
                <a:solidFill>
                  <a:srgbClr val="FFFFFF"/>
                </a:solidFill>
                <a:latin typeface="Calibri"/>
              </a:rPr>
              <a:t>Hari  ·  Technical Lead Manager, TechGuard India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55448"/>
            <a:ext cx="11460175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What's in this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11556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700">
                <a:solidFill>
                  <a:srgbClr val="21295C"/>
                </a:solidFill>
                <a:latin typeface="Calibri"/>
              </a:rPr>
              <a:t>•  Part 1 — The platform</a:t>
            </a:r>
          </a:p>
          <a:p>
            <a:pPr algn="l">
              <a:spcAft>
                <a:spcPts val="200"/>
              </a:spcAft>
            </a:pPr>
            <a:r>
              <a:rPr sz="1500">
                <a:solidFill>
                  <a:srgbClr val="666666"/>
                </a:solidFill>
                <a:latin typeface="Calibri"/>
              </a:rPr>
              <a:t>        — What ORCa is · architecture · nav-orc protocol · session model · seat access</a:t>
            </a:r>
          </a:p>
          <a:p>
            <a:pPr algn="l">
              <a:spcAft>
                <a:spcPts val="400"/>
              </a:spcAft>
            </a:pPr>
            <a:r>
              <a:rPr sz="1700">
                <a:solidFill>
                  <a:srgbClr val="21295C"/>
                </a:solidFill>
                <a:latin typeface="Calibri"/>
              </a:rPr>
              <a:t>•  Part 2 — Initial release</a:t>
            </a:r>
          </a:p>
          <a:p>
            <a:pPr algn="l">
              <a:spcAft>
                <a:spcPts val="200"/>
              </a:spcAft>
            </a:pPr>
            <a:r>
              <a:rPr sz="1500">
                <a:solidFill>
                  <a:srgbClr val="666666"/>
                </a:solidFill>
                <a:latin typeface="Calibri"/>
              </a:rPr>
              <a:t>        — nav-orc skills · pt-orc suite · operator guides · repo</a:t>
            </a:r>
          </a:p>
          <a:p>
            <a:pPr algn="l">
              <a:spcAft>
                <a:spcPts val="400"/>
              </a:spcAft>
            </a:pPr>
            <a:r>
              <a:rPr sz="1700">
                <a:solidFill>
                  <a:srgbClr val="21295C"/>
                </a:solidFill>
                <a:latin typeface="Calibri"/>
              </a:rPr>
              <a:t>•  Part 3 — Getting started + next steps</a:t>
            </a:r>
          </a:p>
          <a:p>
            <a:pPr algn="l">
              <a:spcAft>
                <a:spcPts val="200"/>
              </a:spcAft>
            </a:pPr>
            <a:r>
              <a:rPr sz="1500">
                <a:solidFill>
                  <a:srgbClr val="666666"/>
                </a:solidFill>
                <a:latin typeface="Calibri"/>
              </a:rPr>
              <a:t>        — First session · where we are · what we're developing together</a:t>
            </a:r>
          </a:p>
          <a:p>
            <a:pPr algn="l">
              <a:spcAft>
                <a:spcPts val="400"/>
              </a:spcAft>
            </a:pPr>
            <a:r>
              <a:rPr sz="1700">
                <a:solidFill>
                  <a:srgbClr val="21295C"/>
                </a:solidFill>
                <a:latin typeface="Calibri"/>
              </a:rPr>
              <a:t>•  Part 4 — TechGuard methodology</a:t>
            </a:r>
          </a:p>
          <a:p>
            <a:pPr algn="l">
              <a:spcAft>
                <a:spcPts val="200"/>
              </a:spcAft>
            </a:pPr>
            <a:r>
              <a:rPr sz="1500">
                <a:solidFill>
                  <a:srgbClr val="666666"/>
                </a:solidFill>
                <a:latin typeface="Calibri"/>
              </a:rPr>
              <a:t>        — Unified 9-stage lifecycle · platform vision · where we're heading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897880"/>
            <a:ext cx="11155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1">
                <a:solidFill>
                  <a:srgbClr val="666666"/>
                </a:solidFill>
                <a:latin typeface="Calibri"/>
              </a:rPr>
              <a:t>20 slides  ·  ~25 min  ·  questions welcome throughout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28816"/>
            <a:ext cx="8229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Calibri"/>
              </a:rPr>
              <a:t>ORCa platform  ·  TechGuard  ·  2026-04-27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528816"/>
            <a:ext cx="10972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Calibri"/>
              </a:rPr>
              <a:t>2 / 20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880360"/>
            <a:ext cx="640080" cy="64008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92024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i="1">
                <a:solidFill>
                  <a:srgbClr val="CFE2F3"/>
                </a:solidFill>
                <a:latin typeface="Calibri"/>
              </a:rPr>
              <a:t>Part 1 of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063240"/>
            <a:ext cx="109728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600" b="1" i="0">
                <a:solidFill>
                  <a:srgbClr val="FFFFFF"/>
                </a:solidFill>
                <a:latin typeface="Georgia"/>
              </a:rPr>
              <a:t>The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25196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 i="1">
                <a:solidFill>
                  <a:srgbClr val="CFE2F3"/>
                </a:solidFill>
                <a:latin typeface="Calibri"/>
              </a:rPr>
              <a:t>What it is · Architecture · nav-orc protocol · Session model · Seat access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55448"/>
            <a:ext cx="11460175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What ORCa is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07008"/>
            <a:ext cx="11155680" cy="132588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353312"/>
            <a:ext cx="10607040" cy="11155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 i="1">
                <a:solidFill>
                  <a:srgbClr val="065A82"/>
                </a:solidFill>
                <a:latin typeface="Calibri"/>
              </a:rPr>
              <a:t>“A navigation and orchestration layer for knowledge-intensive AI work — wherever sessions span multiple documents, extended evidence, or structured methodology — with persistent session state, an indexed knowledge base, and controlled seat access.”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743200"/>
            <a:ext cx="111556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21295C"/>
                </a:solidFill>
                <a:latin typeface="Calibri"/>
              </a:rPr>
              <a:t>Two components: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3182112"/>
            <a:ext cx="5394960" cy="2514600"/>
          </a:xfrm>
          <a:prstGeom prst="rect">
            <a:avLst/>
          </a:prstGeom>
          <a:solidFill>
            <a:srgbClr val="E5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3182112"/>
            <a:ext cx="5394960" cy="384048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3218688"/>
            <a:ext cx="50292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nav-orc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675887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>
                <a:solidFill>
                  <a:srgbClr val="21295C"/>
                </a:solidFill>
                <a:latin typeface="Calibri"/>
              </a:rPr>
              <a:t>•  Navigation + orchestration protocol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21295C"/>
                </a:solidFill>
                <a:latin typeface="Calibri"/>
              </a:rPr>
              <a:t>•  Indexed file system — efficient context use at any scale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21295C"/>
                </a:solidFill>
                <a:latin typeface="Calibri"/>
              </a:rPr>
              <a:t>•  Persistent projects across sessions and team members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21295C"/>
                </a:solidFill>
                <a:latin typeface="Calibri"/>
              </a:rPr>
              <a:t>•  Seat access model — controls what each operator can reach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5080" y="3182112"/>
            <a:ext cx="5394960" cy="2514600"/>
          </a:xfrm>
          <a:prstGeom prst="rect">
            <a:avLst/>
          </a:prstGeom>
          <a:solidFill>
            <a:srgbClr val="E5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55080" y="3182112"/>
            <a:ext cx="5394960" cy="384048"/>
          </a:xfrm>
          <a:prstGeom prst="rect">
            <a:avLst/>
          </a:prstGeom>
          <a:solidFill>
            <a:srgbClr val="1E6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37960" y="3218688"/>
            <a:ext cx="50292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pt-orc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3675887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>
                <a:solidFill>
                  <a:srgbClr val="21295C"/>
                </a:solidFill>
                <a:latin typeface="Calibri"/>
              </a:rPr>
              <a:t>•  Phase-driven scripts + AI skills for PT and audit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21295C"/>
                </a:solidFill>
                <a:latin typeface="Calibri"/>
              </a:rPr>
              <a:t>•  7-phase methodology: recon → enum → evidence → report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21295C"/>
                </a:solidFill>
                <a:latin typeface="Calibri"/>
              </a:rPr>
              <a:t>•  Evidence capture, hash, and chain of custody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21295C"/>
                </a:solidFill>
                <a:latin typeface="Calibri"/>
              </a:rPr>
              <a:t>•  Live session monitoring and command safety library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6528816"/>
            <a:ext cx="8229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Calibri"/>
              </a:rPr>
              <a:t>ORCa platform  ·  TechGuard  ·  2026-04-27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28655" y="6528816"/>
            <a:ext cx="10972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Calibri"/>
              </a:rPr>
              <a:t>4 / 20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55448"/>
            <a:ext cx="11460175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Why nav-orc — not raw AI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188720"/>
            <a:ext cx="5394960" cy="347472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1225296"/>
            <a:ext cx="52120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The problem with raw AI for knowledge-intensive work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0" y="1188720"/>
            <a:ext cx="5394960" cy="347472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10528" y="1225296"/>
            <a:ext cx="52120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What nav-orc adds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627632"/>
            <a:ext cx="55778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>
                <a:solidFill>
                  <a:srgbClr val="A03030"/>
                </a:solidFill>
                <a:latin typeface="Calibri"/>
              </a:rPr>
              <a:t>•  Every session starts cold — no memory, no project continuity</a:t>
            </a:r>
          </a:p>
          <a:p>
            <a:pPr algn="l">
              <a:spcAft>
                <a:spcPts val="400"/>
              </a:spcAft>
            </a:pPr>
            <a:r>
              <a:rPr sz="1500">
                <a:solidFill>
                  <a:srgbClr val="A03030"/>
                </a:solidFill>
                <a:latin typeface="Calibri"/>
              </a:rPr>
              <a:t>•  Context window overwhelmed by large documents</a:t>
            </a:r>
          </a:p>
          <a:p>
            <a:pPr algn="l">
              <a:spcAft>
                <a:spcPts val="400"/>
              </a:spcAft>
            </a:pPr>
            <a:r>
              <a:rPr sz="1500">
                <a:solidFill>
                  <a:srgbClr val="A03030"/>
                </a:solidFill>
                <a:latin typeface="Calibri"/>
              </a:rPr>
              <a:t>•  No access control — any prompt can reach anything</a:t>
            </a:r>
          </a:p>
          <a:p>
            <a:pPr algn="l">
              <a:spcAft>
                <a:spcPts val="400"/>
              </a:spcAft>
            </a:pPr>
            <a:r>
              <a:rPr sz="1500">
                <a:solidFill>
                  <a:srgbClr val="A03030"/>
                </a:solidFill>
                <a:latin typeface="Calibri"/>
              </a:rPr>
              <a:t>•  No consistent methodology — results drift session to session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627632"/>
            <a:ext cx="5394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>
                <a:solidFill>
                  <a:srgbClr val="1E6E3A"/>
                </a:solidFill>
                <a:latin typeface="Calibri"/>
              </a:rPr>
              <a:t>•  Persistent projects — warm-start in under 10 seconds</a:t>
            </a:r>
          </a:p>
          <a:p>
            <a:pPr algn="l">
              <a:spcAft>
                <a:spcPts val="400"/>
              </a:spcAft>
            </a:pPr>
            <a:r>
              <a:rPr sz="1500">
                <a:solidFill>
                  <a:srgbClr val="1E6E3A"/>
                </a:solidFill>
                <a:latin typeface="Calibri"/>
              </a:rPr>
              <a:t>•  Indexed files — navigate to the section you need, not the whole file</a:t>
            </a:r>
          </a:p>
          <a:p>
            <a:pPr algn="l">
              <a:spcAft>
                <a:spcPts val="400"/>
              </a:spcAft>
            </a:pPr>
            <a:r>
              <a:rPr sz="1500">
                <a:solidFill>
                  <a:srgbClr val="1E6E3A"/>
                </a:solidFill>
                <a:latin typeface="Calibri"/>
              </a:rPr>
              <a:t>•  Seat-controlled access — operator sees only what their role allows</a:t>
            </a:r>
          </a:p>
          <a:p>
            <a:pPr algn="l">
              <a:spcAft>
                <a:spcPts val="400"/>
              </a:spcAft>
            </a:pPr>
            <a:r>
              <a:rPr sz="1500">
                <a:solidFill>
                  <a:srgbClr val="1E6E3A"/>
                </a:solidFill>
                <a:latin typeface="Calibri"/>
              </a:rPr>
              <a:t>•  Same workflow every session — methodology enforced by design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528816"/>
            <a:ext cx="8229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Calibri"/>
              </a:rPr>
              <a:t>ORCa platform  ·  TechGuard  ·  2026-04-27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528816"/>
            <a:ext cx="10972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Calibri"/>
              </a:rPr>
              <a:t>5 / 20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55448"/>
            <a:ext cx="11460175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Platform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04088"/>
            <a:ext cx="11460175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1">
                <a:solidFill>
                  <a:srgbClr val="CFE2F3"/>
                </a:solidFill>
                <a:latin typeface="Calibri"/>
              </a:rPr>
              <a:t>audit-orc repository — two skill suites, shared tooling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347472" y="1170432"/>
            <a:ext cx="11475720" cy="5074920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84048" y="1207008"/>
            <a:ext cx="11402568" cy="50017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1261872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666666"/>
                </a:solidFill>
                <a:latin typeface="Consolas"/>
              </a:rPr>
              <a:t>audit-orc/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664208"/>
            <a:ext cx="5212080" cy="3611880"/>
          </a:xfrm>
          <a:prstGeom prst="rect">
            <a:avLst/>
          </a:prstGeom>
          <a:solidFill>
            <a:srgbClr val="E5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1664208"/>
            <a:ext cx="5212080" cy="402336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1709928"/>
            <a:ext cx="4846320" cy="3383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onsolas"/>
              </a:rPr>
              <a:t>nav-orc/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2212848"/>
            <a:ext cx="1371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065A82"/>
                </a:solidFill>
                <a:latin typeface="Consolas"/>
              </a:rPr>
              <a:t>skills/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2505456"/>
            <a:ext cx="46634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  <a:latin typeface="Calibri"/>
              </a:rPr>
              <a:t>7 AI skills — navigation, sessions, tasks, identity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2980944"/>
            <a:ext cx="1371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065A82"/>
                </a:solidFill>
                <a:latin typeface="Consolas"/>
              </a:rPr>
              <a:t>tools/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" y="3273552"/>
            <a:ext cx="46634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  <a:latin typeface="Calibri"/>
              </a:rPr>
              <a:t>orc-nav-reindex — keeps file indexes current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" y="3749040"/>
            <a:ext cx="1371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065A82"/>
                </a:solidFill>
                <a:latin typeface="Consolas"/>
              </a:rPr>
              <a:t>spec/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" y="4041648"/>
            <a:ext cx="46634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  <a:latin typeface="Calibri"/>
              </a:rPr>
              <a:t>nav-orc specification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0" y="1664208"/>
            <a:ext cx="5212080" cy="3611880"/>
          </a:xfrm>
          <a:prstGeom prst="rect">
            <a:avLst/>
          </a:prstGeom>
          <a:solidFill>
            <a:srgbClr val="E5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0" y="1664208"/>
            <a:ext cx="5212080" cy="402336"/>
          </a:xfrm>
          <a:prstGeom prst="rect">
            <a:avLst/>
          </a:prstGeom>
          <a:solidFill>
            <a:srgbClr val="1E6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0" y="1709928"/>
            <a:ext cx="4846320" cy="3383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onsolas"/>
              </a:rPr>
              <a:t>pt-orc/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2212848"/>
            <a:ext cx="1371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1E6E3A"/>
                </a:solidFill>
                <a:latin typeface="Consolas"/>
              </a:rPr>
              <a:t>scripts/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2505456"/>
            <a:ext cx="47548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  <a:latin typeface="Calibri"/>
              </a:rPr>
              <a:t>Phase scripts 00–07 — bootstrap through cleanup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2980944"/>
            <a:ext cx="1371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1E6E3A"/>
                </a:solidFill>
                <a:latin typeface="Consolas"/>
              </a:rPr>
              <a:t>skills/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3273552"/>
            <a:ext cx="47548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  <a:latin typeface="Calibri"/>
              </a:rPr>
              <a:t>7 AI skills — recon, enum, evidence, report, monitor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3749040"/>
            <a:ext cx="1371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1E6E3A"/>
                </a:solidFill>
                <a:latin typeface="Consolas"/>
              </a:rPr>
              <a:t>spec/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0" y="4041648"/>
            <a:ext cx="47548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  <a:latin typeface="Calibri"/>
              </a:rPr>
              <a:t>PT-Orc specifications and methodology docs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" y="5321808"/>
            <a:ext cx="11064240" cy="73152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" y="5376672"/>
            <a:ext cx="1828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21295C"/>
                </a:solidFill>
                <a:latin typeface="Consolas"/>
              </a:rPr>
              <a:t>docs/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5669280"/>
            <a:ext cx="10515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  <a:latin typeface="Calibri"/>
              </a:rPr>
              <a:t>Operator guides — getting started, nav-orc, session management, task board, README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" y="6528816"/>
            <a:ext cx="8229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Calibri"/>
              </a:rPr>
              <a:t>ORCa platform  ·  TechGuard  ·  2026-04-27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728655" y="6528816"/>
            <a:ext cx="10972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Calibri"/>
              </a:rPr>
              <a:t>6 / 20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55448"/>
            <a:ext cx="11460175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nav-orc — the indexed file protocol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04088"/>
            <a:ext cx="11460175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1">
                <a:solidFill>
                  <a:srgbClr val="CFE2F3"/>
                </a:solidFill>
                <a:latin typeface="Calibri"/>
              </a:rPr>
              <a:t>Context-efficient navigation across any collection of structured documents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59436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21295C"/>
                </a:solidFill>
                <a:latin typeface="Calibri"/>
              </a:rPr>
              <a:t>Every file carries a built-in table of contents: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91056"/>
            <a:ext cx="5852160" cy="1874519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wrap="none" lIns="128016" rIns="128016" tIns="91440" bIns="91440">
            <a:spAutoFit/>
          </a:bodyPr>
          <a:lstStyle/>
          <a:p>
            <a:pPr>
              <a:spcAft>
                <a:spcPts val="0"/>
              </a:spcAft>
            </a:pPr>
            <a:r>
              <a:rPr sz="1000">
                <a:solidFill>
                  <a:srgbClr val="21295C"/>
                </a:solidFill>
                <a:latin typeface="Consolas"/>
              </a:rPr>
              <a:t>&lt;!-- L1 ORC-NAV: read MRK:NAV_TOC first --&gt;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21295C"/>
                </a:solidFill>
                <a:latin typeface="Consolas"/>
              </a:rPr>
              <a:t>&lt;!-- L2 NAV:v1 -&gt; domain-index.md --&gt;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21295C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21295C"/>
                </a:solidFill>
                <a:latin typeface="Consolas"/>
              </a:rPr>
              <a:t>&lt;!-- MRK:NAV_TOC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21295C"/>
                </a:solidFill>
                <a:latin typeface="Consolas"/>
              </a:rPr>
              <a:t> - MRK:GUIDE_QUICKSTART  -- Quick start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21295C"/>
                </a:solidFill>
                <a:latin typeface="Consolas"/>
              </a:rPr>
              <a:t>   | quickstart,install  | L18-45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21295C"/>
                </a:solidFill>
                <a:latin typeface="Consolas"/>
              </a:rPr>
              <a:t> - MRK:GUIDE_COMMANDS    -- Command reference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21295C"/>
                </a:solidFill>
                <a:latin typeface="Consolas"/>
              </a:rPr>
              <a:t>   | commands,nav,project | L46-120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21295C"/>
                </a:solidFill>
                <a:latin typeface="Consolas"/>
              </a:rPr>
              <a:t> - MRK:GUIDE_SESSION     -- Session lifecycle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21295C"/>
                </a:solidFill>
                <a:latin typeface="Consolas"/>
              </a:rPr>
              <a:t>   | session,start,close | L121-175 --&gt;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547872"/>
            <a:ext cx="59436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21295C"/>
                </a:solidFill>
                <a:latin typeface="Calibri"/>
              </a:rPr>
              <a:t>Navigate to only what you need: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950208"/>
            <a:ext cx="5852160" cy="5943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wrap="none" lIns="128016" rIns="128016" tIns="91440" bIns="91440">
            <a:spAutoFit/>
          </a:bodyPr>
          <a:lstStyle/>
          <a:p>
            <a:pPr>
              <a:spcAft>
                <a:spcPts val="0"/>
              </a:spcAft>
            </a:pPr>
            <a:r>
              <a:rPr sz="1100">
                <a:solidFill>
                  <a:srgbClr val="21295C"/>
                </a:solidFill>
                <a:latin typeface="Consolas"/>
              </a:rPr>
              <a:t>Read(file, offset=46, limit=74)  # 74 lines, not 175</a:t>
            </a:r>
          </a:p>
        </p:txBody>
      </p:sp>
      <p:sp>
        <p:nvSpPr>
          <p:cNvPr id="9" name="Rectangle 8"/>
          <p:cNvSpPr/>
          <p:nvPr/>
        </p:nvSpPr>
        <p:spPr>
          <a:xfrm>
            <a:off x="6492240" y="1188720"/>
            <a:ext cx="5303520" cy="347472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0" y="1316736"/>
            <a:ext cx="493776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065A82"/>
                </a:solidFill>
                <a:latin typeface="Calibri"/>
              </a:rPr>
              <a:t>What this means in practice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1810512"/>
            <a:ext cx="493776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>
                <a:solidFill>
                  <a:srgbClr val="21295C"/>
                </a:solidFill>
                <a:latin typeface="Calibri"/>
              </a:rPr>
              <a:t>•  1 000-line document — read 20L TOC + 40L section, not 1 000L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21295C"/>
                </a:solidFill>
                <a:latin typeface="Calibri"/>
              </a:rPr>
              <a:t>•  10–15× context savings per session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21295C"/>
                </a:solidFill>
                <a:latin typeface="Calibri"/>
              </a:rPr>
              <a:t>•  Large engagements stay within context budget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21295C"/>
                </a:solidFill>
                <a:latin typeface="Calibri"/>
              </a:rPr>
              <a:t>•  All skills, guides, and plans are indexed this way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21295C"/>
                </a:solidFill>
                <a:latin typeface="Calibri"/>
              </a:rPr>
              <a:t>•  Reindex tool keeps all ranges and hashes current automatically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92240" y="4828032"/>
            <a:ext cx="5303520" cy="73152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0" y="4937760"/>
            <a:ext cx="49377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Cold projects resume coherently in two file reads — across sessions, weeks, and team handovers.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528816"/>
            <a:ext cx="8229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Calibri"/>
              </a:rPr>
              <a:t>ORCa platform  ·  TechGuard  ·  2026-04-27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28655" y="6528816"/>
            <a:ext cx="10972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Calibri"/>
              </a:rPr>
              <a:t>7 / 20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55448"/>
            <a:ext cx="11460175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Session model — warm-start every time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04088"/>
            <a:ext cx="11460175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1">
                <a:solidFill>
                  <a:srgbClr val="CFE2F3"/>
                </a:solidFill>
                <a:latin typeface="Calibri"/>
              </a:rPr>
              <a:t>Projects survive across sessions, weeks, and team members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188720"/>
            <a:ext cx="6903720" cy="46634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wrap="none" lIns="128016" rIns="128016" tIns="91440" bIns="91440">
            <a:spAutoFit/>
          </a:bodyPr>
          <a:lstStyle/>
          <a:p>
            <a:pPr>
              <a:spcAft>
                <a:spcPts val="0"/>
              </a:spcAft>
            </a:pPr>
            <a:r>
              <a:rPr sz="1000">
                <a:solidFill>
                  <a:srgbClr val="21295C"/>
                </a:solidFill>
                <a:latin typeface="Consolas"/>
              </a:rPr>
              <a:t># Load for the session — two commands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21295C"/>
                </a:solidFill>
                <a:latin typeface="Consolas"/>
              </a:rPr>
              <a:t>/nav_ext   # loads entire nav-orc suite in one shot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21295C"/>
                </a:solidFill>
                <a:latin typeface="Consolas"/>
              </a:rPr>
              <a:t>/pt-orc    # PT-Orc engagement skills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21295C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21295C"/>
                </a:solidFill>
                <a:latin typeface="Consolas"/>
              </a:rPr>
              <a:t># Resume your project (auto-loads last state)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21295C"/>
                </a:solidFill>
                <a:latin typeface="Consolas"/>
              </a:rPr>
              <a:t>(r) resume  tg-infratest-q2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21295C"/>
                </a:solidFill>
                <a:latin typeface="Consolas"/>
              </a:rPr>
              <a:t># -&gt; plan + last log entries + context snapshot reload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21295C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21295C"/>
                </a:solidFill>
                <a:latin typeface="Consolas"/>
              </a:rPr>
              <a:t># Do work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21295C"/>
                </a:solidFill>
                <a:latin typeface="Consolas"/>
              </a:rPr>
              <a:t>nav project log: completed DNS enum, 14 live hosts found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21295C"/>
                </a:solidFill>
                <a:latin typeface="Consolas"/>
              </a:rPr>
              <a:t>tsk add: review SMB shares from enum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21295C"/>
                </a:solidFill>
                <a:latin typeface="Consolas"/>
              </a:rPr>
              <a:t>tsk done: 1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21295C"/>
                </a:solidFill>
                <a:latin typeface="Consolas"/>
              </a:rPr>
              <a:t>remind: check 03_comp_scan results  due:2026-05-01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21295C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21295C"/>
                </a:solidFill>
                <a:latin typeface="Consolas"/>
              </a:rPr>
              <a:t># Checkpoint before leaving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21295C"/>
                </a:solidFill>
                <a:latin typeface="Consolas"/>
              </a:rPr>
              <a:t>nav project offload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21295C"/>
                </a:solidFill>
                <a:latin typeface="Consolas"/>
              </a:rPr>
              <a:t># -&gt; context snapshot written; session-lock released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21295C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21295C"/>
                </a:solidFill>
                <a:latin typeface="Consolas"/>
              </a:rPr>
              <a:t># Next session: same warm-start, under 10 seconds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1188720"/>
            <a:ext cx="42519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21295C"/>
                </a:solidFill>
                <a:latin typeface="Calibri"/>
              </a:rPr>
              <a:t>What persists between sessions: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0" y="1627632"/>
            <a:ext cx="4251960" cy="3246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>
                <a:solidFill>
                  <a:srgbClr val="21295C"/>
                </a:solidFill>
                <a:latin typeface="Calibri"/>
              </a:rPr>
              <a:t>•  Beacon  .in/tg-infratest-q2_beacon.md</a:t>
            </a:r>
          </a:p>
          <a:p>
            <a:pPr algn="l">
              <a:spcAft>
                <a:spcPts val="200"/>
              </a:spcAft>
            </a:pPr>
            <a:r>
              <a:rPr sz="1000">
                <a:solidFill>
                  <a:srgbClr val="666666"/>
                </a:solidFill>
                <a:latin typeface="Calibri"/>
              </a:rPr>
              <a:t>        — Git-tracked — always the entry point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21295C"/>
                </a:solidFill>
                <a:latin typeface="Calibri"/>
              </a:rPr>
              <a:t>•  NEXT doc  .work/tg-infratest-q2/</a:t>
            </a:r>
          </a:p>
          <a:p>
            <a:pPr algn="l">
              <a:spcAft>
                <a:spcPts val="200"/>
              </a:spcAft>
            </a:pPr>
            <a:r>
              <a:rPr sz="1000">
                <a:solidFill>
                  <a:srgbClr val="666666"/>
                </a:solidFill>
                <a:latin typeface="Calibri"/>
              </a:rPr>
              <a:t>        — Plan, log, task board, in-flight items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21295C"/>
                </a:solidFill>
                <a:latin typeface="Calibri"/>
              </a:rPr>
              <a:t>•  Context snapshot  ctx_notes.md</a:t>
            </a:r>
          </a:p>
          <a:p>
            <a:pPr algn="l">
              <a:spcAft>
                <a:spcPts val="200"/>
              </a:spcAft>
            </a:pPr>
            <a:r>
              <a:rPr sz="1000">
                <a:solidFill>
                  <a:srgbClr val="666666"/>
                </a:solidFill>
                <a:latin typeface="Calibri"/>
              </a:rPr>
              <a:t>        — Overwritten each offload — always current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21295C"/>
                </a:solidFill>
                <a:latin typeface="Calibri"/>
              </a:rPr>
              <a:t>•  Session notes  .in/SESSION-*.md</a:t>
            </a:r>
          </a:p>
          <a:p>
            <a:pPr algn="l">
              <a:spcAft>
                <a:spcPts val="200"/>
              </a:spcAft>
            </a:pPr>
            <a:r>
              <a:rPr sz="1000">
                <a:solidFill>
                  <a:srgbClr val="666666"/>
                </a:solidFill>
                <a:latin typeface="Calibri"/>
              </a:rPr>
              <a:t>        — Immutable audit trail, one per session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7589520" y="5047488"/>
            <a:ext cx="4251960" cy="694944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0" y="5138928"/>
            <a:ext cx="38862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1">
                <a:solidFill>
                  <a:srgbClr val="065A82"/>
                </a:solidFill>
                <a:latin typeface="Calibri"/>
              </a:rPr>
              <a:t>Projects can be paused, handed over, or closed — state is always preserved.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528816"/>
            <a:ext cx="8229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Calibri"/>
              </a:rPr>
              <a:t>ORCa platform  ·  TechGuard  ·  2026-04-27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528816"/>
            <a:ext cx="10972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Calibri"/>
              </a:rPr>
              <a:t>8 / 20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55448"/>
            <a:ext cx="11460175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Seat access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04088"/>
            <a:ext cx="11460175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1">
                <a:solidFill>
                  <a:srgbClr val="CFE2F3"/>
                </a:solidFill>
                <a:latin typeface="Calibri"/>
              </a:rPr>
              <a:t>Part of nav-orc — controls what each operator can reach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70432"/>
            <a:ext cx="5394960" cy="347472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5488" y="1207008"/>
            <a:ext cx="52120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How it works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0" y="1170432"/>
            <a:ext cx="5394960" cy="347472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10528" y="1207008"/>
            <a:ext cx="52120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Seat types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609344"/>
            <a:ext cx="56692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>
                <a:solidFill>
                  <a:srgbClr val="21295C"/>
                </a:solidFill>
                <a:latin typeface="Calibri"/>
              </a:rPr>
              <a:t>•  Each operator has a seat type that frames their permissions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21295C"/>
                </a:solidFill>
                <a:latin typeface="Calibri"/>
              </a:rPr>
              <a:t>•  Three nested layers: org ceiling → seat frame → project perms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21295C"/>
                </a:solidFill>
                <a:latin typeface="Calibri"/>
              </a:rPr>
              <a:t>•  Seat type set by a wrapper script at session start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21295C"/>
                </a:solidFill>
                <a:latin typeface="Calibri"/>
              </a:rPr>
              <a:t>•  orc-seat-start.ps1 / orc-seat-start.sh</a:t>
            </a:r>
          </a:p>
          <a:p>
            <a:pPr algn="l">
              <a:spcAft>
                <a:spcPts val="200"/>
              </a:spcAft>
            </a:pPr>
            <a:r>
              <a:rPr sz="1100">
                <a:solidFill>
                  <a:srgbClr val="666666"/>
                </a:solidFill>
                <a:latin typeface="Calibri"/>
              </a:rPr>
              <a:t>        — Included in skills — sets the session identity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21295C"/>
                </a:solidFill>
                <a:latin typeface="Calibri"/>
              </a:rPr>
              <a:t>•  Entra ID integration</a:t>
            </a:r>
          </a:p>
          <a:p>
            <a:pPr algn="l">
              <a:spcAft>
                <a:spcPts val="200"/>
              </a:spcAft>
            </a:pPr>
            <a:r>
              <a:rPr sz="1100">
                <a:solidFill>
                  <a:srgbClr val="666666"/>
                </a:solidFill>
                <a:latin typeface="Calibri"/>
              </a:rPr>
              <a:t>        — In development — will auto-detect seat from group membership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400800" y="1609344"/>
          <a:ext cx="539496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97480"/>
                <a:gridCol w="2697480"/>
              </a:tblGrid>
              <a:tr h="54864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Seat</a:t>
                      </a:r>
                    </a:p>
                  </a:txBody>
                  <a:tcPr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Typical role</a:t>
                      </a:r>
                    </a:p>
                  </a:txBody>
                  <a:tcPr>
                    <a:solidFill>
                      <a:srgbClr val="065A8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1295C"/>
                          </a:solidFill>
                          <a:latin typeface="Calibri"/>
                        </a:rPr>
                        <a:t>anonymous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1295C"/>
                          </a:solidFill>
                          <a:latin typeface="Calibri"/>
                        </a:rPr>
                        <a:t>Local work only; no client data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1295C"/>
                          </a:solidFill>
                          <a:latin typeface="Calibri"/>
                        </a:rPr>
                        <a:t>analyst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1295C"/>
                          </a:solidFill>
                          <a:latin typeface="Calibri"/>
                        </a:rPr>
                        <a:t>PT operator; standard engagement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1295C"/>
                          </a:solidFill>
                          <a:latin typeface="Calibri"/>
                        </a:rPr>
                        <a:t>senior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1295C"/>
                          </a:solidFill>
                          <a:latin typeface="Calibri"/>
                        </a:rPr>
                        <a:t>Lead; evidence write + reporting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1295C"/>
                          </a:solidFill>
                          <a:latin typeface="Calibri"/>
                        </a:rPr>
                        <a:t>admin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1295C"/>
                          </a:solidFill>
                          <a:latin typeface="Calibri"/>
                        </a:rPr>
                        <a:t>Seat mgmt; org config; keys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1295C"/>
                          </a:solidFill>
                          <a:latin typeface="Calibri"/>
                        </a:rPr>
                        <a:t>restricted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1295C"/>
                          </a:solidFill>
                          <a:latin typeface="Calibri"/>
                        </a:rPr>
                        <a:t>On-client-site; custom ceiling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365760" y="5175504"/>
            <a:ext cx="11430000" cy="59436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5248656"/>
            <a:ext cx="1106424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1">
                <a:solidFill>
                  <a:srgbClr val="666666"/>
                </a:solidFill>
                <a:latin typeface="Calibri"/>
              </a:rPr>
              <a:t>The wrapper script is the current mechanism. Full Entra group → seat auto-detection is a planned next step — uses TechGuard's existing M365 identity, no new infrastructure.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528816"/>
            <a:ext cx="8229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Calibri"/>
              </a:rPr>
              <a:t>ORCa platform  ·  TechGuard  ·  2026-04-27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28655" y="6528816"/>
            <a:ext cx="10972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Calibri"/>
              </a:rPr>
              <a:t>9 / 20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880360"/>
            <a:ext cx="640080" cy="64008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92024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i="1">
                <a:solidFill>
                  <a:srgbClr val="CFE2F3"/>
                </a:solidFill>
                <a:latin typeface="Calibri"/>
              </a:rPr>
              <a:t>Part 2 of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063240"/>
            <a:ext cx="109728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600" b="1" i="0">
                <a:solidFill>
                  <a:srgbClr val="FFFFFF"/>
                </a:solidFill>
                <a:latin typeface="Georgia"/>
              </a:rPr>
              <a:t>Initial release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25196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 i="1">
                <a:solidFill>
                  <a:srgbClr val="CFE2F3"/>
                </a:solidFill>
                <a:latin typeface="Calibri"/>
              </a:rPr>
              <a:t>nav-orc skills · pt-orc suite · operator guides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55448"/>
            <a:ext cx="11460175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nav-orc skills — initial release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143000"/>
          <a:ext cx="11430000" cy="4343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15000"/>
                <a:gridCol w="5715000"/>
              </a:tblGrid>
              <a:tr h="542925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Skill</a:t>
                      </a:r>
                    </a:p>
                  </a:txBody>
                  <a:tcPr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Role</a:t>
                      </a:r>
                    </a:p>
                  </a:txBody>
                  <a:tcPr>
                    <a:solidFill>
                      <a:srgbClr val="065A82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1295C"/>
                          </a:solidFill>
                          <a:latin typeface="Calibri"/>
                        </a:rPr>
                        <a:t>nav_bare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1295C"/>
                          </a:solidFill>
                          <a:latin typeface="Calibri"/>
                        </a:rPr>
                        <a:t>Boot loader — minimal session start; auto-escalates to nav_core on first write</a:t>
                      </a:r>
                    </a:p>
                  </a:txBody>
                  <a:tcPr/>
                </a:tc>
              </a:tr>
              <a:tr h="542925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1295C"/>
                          </a:solidFill>
                          <a:latin typeface="Calibri"/>
                        </a:rPr>
                        <a:t>nav_core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1295C"/>
                          </a:solidFill>
                          <a:latin typeface="Calibri"/>
                        </a:rPr>
                        <a:t>Full protocol — indexed navigation, read, edit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1295C"/>
                          </a:solidFill>
                          <a:latin typeface="Calibri"/>
                        </a:rPr>
                        <a:t>nav_project_proc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1295C"/>
                          </a:solidFill>
                          <a:latin typeface="Calibri"/>
                        </a:rPr>
                        <a:t>Project lifecycle — beacons, NEXT docs, session warm-start, handovers</a:t>
                      </a:r>
                    </a:p>
                  </a:txBody>
                  <a:tcPr/>
                </a:tc>
              </a:tr>
              <a:tr h="542925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1295C"/>
                          </a:solidFill>
                          <a:latin typeface="Calibri"/>
                        </a:rPr>
                        <a:t>nav_action_plan_proc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1295C"/>
                          </a:solidFill>
                          <a:latin typeface="Calibri"/>
                        </a:rPr>
                        <a:t>Task board (TSK) · session notes · reminders · custom commands · shortcuts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1295C"/>
                          </a:solidFill>
                          <a:latin typeface="Calibri"/>
                        </a:rPr>
                        <a:t>nav_profile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1295C"/>
                          </a:solidFill>
                          <a:latin typeface="Calibri"/>
                        </a:rPr>
                        <a:t>Identity + seat access model · role frames</a:t>
                      </a:r>
                    </a:p>
                  </a:txBody>
                  <a:tcPr/>
                </a:tc>
              </a:tr>
              <a:tr h="542925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1295C"/>
                          </a:solidFill>
                          <a:latin typeface="Calibri"/>
                        </a:rPr>
                        <a:t>nav_commit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1295C"/>
                          </a:solidFill>
                          <a:latin typeface="Calibri"/>
                        </a:rPr>
                        <a:t>Git commit pipeline · reindex gate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1295C"/>
                          </a:solidFill>
                          <a:latin typeface="Calibri"/>
                        </a:rPr>
                        <a:t>nav_ext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1295C"/>
                          </a:solidFill>
                          <a:latin typeface="Calibri"/>
                        </a:rPr>
                        <a:t>I/O metrics · debug mode · gap detection · observability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65760" y="5623560"/>
            <a:ext cx="11430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1">
                <a:solidFill>
                  <a:srgbClr val="666666"/>
                </a:solidFill>
                <a:latin typeface="Calibri"/>
              </a:rPr>
              <a:t>Plus:  SPEC.md — normative specification for the orc-nav-reindex tool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28816"/>
            <a:ext cx="8229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Calibri"/>
              </a:rPr>
              <a:t>ORCa platform  ·  TechGuard  ·  2026-04-27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528816"/>
            <a:ext cx="10972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Calibri"/>
              </a:rPr>
              <a:t>11 / 20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55448"/>
            <a:ext cx="11460175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pt-orc suite — 7 phases, 7 companion skills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152144"/>
            <a:ext cx="5394960" cy="347472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1188720"/>
            <a:ext cx="52120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Phase scripts  (pt-orc/scripts/)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0" y="1152144"/>
            <a:ext cx="5394960" cy="347472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10528" y="1188720"/>
            <a:ext cx="52120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Companion skills  (pt-orc/skills/)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65760" y="1591056"/>
          <a:ext cx="5715000" cy="3703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5000"/>
                <a:gridCol w="1905000"/>
                <a:gridCol w="1905000"/>
              </a:tblGrid>
              <a:tr h="462915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Phase</a:t>
                      </a:r>
                    </a:p>
                  </a:txBody>
                  <a:tcPr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Script</a:t>
                      </a:r>
                    </a:p>
                  </a:txBody>
                  <a:tcPr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What it covers</a:t>
                      </a:r>
                    </a:p>
                  </a:txBody>
                  <a:tcPr>
                    <a:solidFill>
                      <a:srgbClr val="065A82"/>
                    </a:solidFill>
                  </a:tcPr>
                </a:tc>
              </a:tr>
              <a:tr h="46291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95C"/>
                          </a:solidFill>
                          <a:latin typeface="Calibri"/>
                        </a:rPr>
                        <a:t>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95C"/>
                          </a:solidFill>
                          <a:latin typeface="Calibri"/>
                        </a:rPr>
                        <a:t>00_bootstrap.sh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95C"/>
                          </a:solidFill>
                          <a:latin typeface="Calibri"/>
                        </a:rPr>
                        <a:t>Env setup, tool checks, profile init</a:t>
                      </a:r>
                    </a:p>
                  </a:txBody>
                  <a:tcPr/>
                </a:tc>
              </a:tr>
              <a:tr h="46291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95C"/>
                          </a:solidFill>
                          <a:latin typeface="Calibri"/>
                        </a:rPr>
                        <a:t>01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95C"/>
                          </a:solidFill>
                          <a:latin typeface="Calibri"/>
                        </a:rPr>
                        <a:t>01_recon.sh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95C"/>
                          </a:solidFill>
                          <a:latin typeface="Calibri"/>
                        </a:rPr>
                        <a:t>OSINT + passive recon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6291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95C"/>
                          </a:solidFill>
                          <a:latin typeface="Calibri"/>
                        </a:rPr>
                        <a:t>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95C"/>
                          </a:solidFill>
                          <a:latin typeface="Calibri"/>
                        </a:rPr>
                        <a:t>02_enum.sh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95C"/>
                          </a:solidFill>
                          <a:latin typeface="Calibri"/>
                        </a:rPr>
                        <a:t>Active enum — ports, services, shares</a:t>
                      </a:r>
                    </a:p>
                  </a:txBody>
                  <a:tcPr/>
                </a:tc>
              </a:tr>
              <a:tr h="46291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95C"/>
                          </a:solidFill>
                          <a:latin typeface="Calibri"/>
                        </a:rPr>
                        <a:t>03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95C"/>
                          </a:solidFill>
                          <a:latin typeface="Calibri"/>
                        </a:rPr>
                        <a:t>03_comp_scan.sh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95C"/>
                          </a:solidFill>
                          <a:latin typeface="Calibri"/>
                        </a:rPr>
                        <a:t>Component + vulnerability scan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6291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95C"/>
                          </a:solidFill>
                          <a:latin typeface="Calibri"/>
                        </a:rPr>
                        <a:t>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95C"/>
                          </a:solidFill>
                          <a:latin typeface="Calibri"/>
                        </a:rPr>
                        <a:t>04_exploit.sh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95C"/>
                          </a:solidFill>
                          <a:latin typeface="Calibri"/>
                        </a:rPr>
                        <a:t>Exploit execution + capture</a:t>
                      </a:r>
                    </a:p>
                  </a:txBody>
                  <a:tcPr/>
                </a:tc>
              </a:tr>
              <a:tr h="46291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95C"/>
                          </a:solidFill>
                          <a:latin typeface="Calibri"/>
                        </a:rPr>
                        <a:t>05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95C"/>
                          </a:solidFill>
                          <a:latin typeface="Calibri"/>
                        </a:rPr>
                        <a:t>05_evidence.sh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95C"/>
                          </a:solidFill>
                          <a:latin typeface="Calibri"/>
                        </a:rPr>
                        <a:t>Evidence packaging + hash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6291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95C"/>
                          </a:solidFill>
                          <a:latin typeface="Calibri"/>
                        </a:rPr>
                        <a:t>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95C"/>
                          </a:solidFill>
                          <a:latin typeface="Calibri"/>
                        </a:rPr>
                        <a:t>06_report.sh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95C"/>
                          </a:solidFill>
                          <a:latin typeface="Calibri"/>
                        </a:rPr>
                        <a:t>Report generation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0" y="1591056"/>
          <a:ext cx="5394960" cy="3703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97480"/>
                <a:gridCol w="2697480"/>
              </a:tblGrid>
              <a:tr h="462915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Skill</a:t>
                      </a:r>
                    </a:p>
                  </a:txBody>
                  <a:tcPr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Role</a:t>
                      </a:r>
                    </a:p>
                  </a:txBody>
                  <a:tcPr>
                    <a:solidFill>
                      <a:srgbClr val="065A82"/>
                    </a:solidFill>
                  </a:tcPr>
                </a:tc>
              </a:tr>
              <a:tr h="46291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95C"/>
                          </a:solidFill>
                          <a:latin typeface="Calibri"/>
                        </a:rPr>
                        <a:t>pt-orc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95C"/>
                          </a:solidFill>
                          <a:latin typeface="Calibri"/>
                        </a:rPr>
                        <a:t>Orchestrator — phase gating + engagement flow</a:t>
                      </a:r>
                    </a:p>
                  </a:txBody>
                  <a:tcPr/>
                </a:tc>
              </a:tr>
              <a:tr h="46291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95C"/>
                          </a:solidFill>
                          <a:latin typeface="Calibri"/>
                        </a:rPr>
                        <a:t>pt-recon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95C"/>
                          </a:solidFill>
                          <a:latin typeface="Calibri"/>
                        </a:rPr>
                        <a:t>Scope capture + OSINT guidance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6291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95C"/>
                          </a:solidFill>
                          <a:latin typeface="Calibri"/>
                        </a:rPr>
                        <a:t>pt-enum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95C"/>
                          </a:solidFill>
                          <a:latin typeface="Calibri"/>
                        </a:rPr>
                        <a:t>Enumeration guidance + findings log</a:t>
                      </a:r>
                    </a:p>
                  </a:txBody>
                  <a:tcPr/>
                </a:tc>
              </a:tr>
              <a:tr h="46291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95C"/>
                          </a:solidFill>
                          <a:latin typeface="Calibri"/>
                        </a:rPr>
                        <a:t>pt-evidence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95C"/>
                          </a:solidFill>
                          <a:latin typeface="Calibri"/>
                        </a:rPr>
                        <a:t>Evidence structure, hash, chain of custody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6291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95C"/>
                          </a:solidFill>
                          <a:latin typeface="Calibri"/>
                        </a:rPr>
                        <a:t>pt-report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95C"/>
                          </a:solidFill>
                          <a:latin typeface="Calibri"/>
                        </a:rPr>
                        <a:t>Report generation + formatting</a:t>
                      </a:r>
                    </a:p>
                  </a:txBody>
                  <a:tcPr/>
                </a:tc>
              </a:tr>
              <a:tr h="46291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95C"/>
                          </a:solidFill>
                          <a:latin typeface="Calibri"/>
                        </a:rPr>
                        <a:t>pt-commands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95C"/>
                          </a:solidFill>
                          <a:latin typeface="Calibri"/>
                        </a:rPr>
                        <a:t>Safe command library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6291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95C"/>
                          </a:solidFill>
                          <a:latin typeface="Calibri"/>
                        </a:rPr>
                        <a:t>pt-monitor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95C"/>
                          </a:solidFill>
                          <a:latin typeface="Calibri"/>
                        </a:rPr>
                        <a:t>Live session monitor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65760" y="6528816"/>
            <a:ext cx="8229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Calibri"/>
              </a:rPr>
              <a:t>ORCa platform  ·  TechGuard  ·  2026-04-27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528816"/>
            <a:ext cx="10972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Calibri"/>
              </a:rPr>
              <a:t>12 / 20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55448"/>
            <a:ext cx="11460175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Operator guides + repo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152144"/>
            <a:ext cx="5394960" cy="347472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1188720"/>
            <a:ext cx="52120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Operator guides  (docs/)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0" y="1152144"/>
            <a:ext cx="5394960" cy="347472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10528" y="1188720"/>
            <a:ext cx="52120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Getting skills from the repo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591056"/>
            <a:ext cx="5669280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>
                <a:solidFill>
                  <a:srgbClr val="21295C"/>
                </a:solidFill>
                <a:latin typeface="Calibri"/>
              </a:rPr>
              <a:t>•  getting-started.md</a:t>
            </a:r>
          </a:p>
          <a:p>
            <a:pPr algn="l">
              <a:spcAft>
                <a:spcPts val="200"/>
              </a:spcAft>
            </a:pPr>
            <a:r>
              <a:rPr sz="1100">
                <a:solidFill>
                  <a:srgbClr val="666666"/>
                </a:solidFill>
                <a:latin typeface="Calibri"/>
              </a:rPr>
              <a:t>        — Install, first session, project creation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21295C"/>
                </a:solidFill>
                <a:latin typeface="Calibri"/>
              </a:rPr>
              <a:t>•  nav-v1-user-guide.md</a:t>
            </a:r>
          </a:p>
          <a:p>
            <a:pPr algn="l">
              <a:spcAft>
                <a:spcPts val="200"/>
              </a:spcAft>
            </a:pPr>
            <a:r>
              <a:rPr sz="1100">
                <a:solidFill>
                  <a:srgbClr val="666666"/>
                </a:solidFill>
                <a:latin typeface="Calibri"/>
              </a:rPr>
              <a:t>        — Reading indexed files — TOC, anchors, precise fetch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21295C"/>
                </a:solidFill>
                <a:latin typeface="Calibri"/>
              </a:rPr>
              <a:t>•  nav-project-proc-guide.md</a:t>
            </a:r>
          </a:p>
          <a:p>
            <a:pPr algn="l">
              <a:spcAft>
                <a:spcPts val="200"/>
              </a:spcAft>
            </a:pPr>
            <a:r>
              <a:rPr sz="1100">
                <a:solidFill>
                  <a:srgbClr val="666666"/>
                </a:solidFill>
                <a:latin typeface="Calibri"/>
              </a:rPr>
              <a:t>        — Project lifecycle — create, log, offload, handover, close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21295C"/>
                </a:solidFill>
                <a:latin typeface="Calibri"/>
              </a:rPr>
              <a:t>•  nav-action-plan-proc-guide.md</a:t>
            </a:r>
          </a:p>
          <a:p>
            <a:pPr algn="l">
              <a:spcAft>
                <a:spcPts val="200"/>
              </a:spcAft>
            </a:pPr>
            <a:r>
              <a:rPr sz="1100">
                <a:solidFill>
                  <a:srgbClr val="666666"/>
                </a:solidFill>
                <a:latin typeface="Calibri"/>
              </a:rPr>
              <a:t>        — Task board, session notes, reminders, custom commands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21295C"/>
                </a:solidFill>
                <a:latin typeface="Calibri"/>
              </a:rPr>
              <a:t>•  README.md</a:t>
            </a:r>
          </a:p>
          <a:p>
            <a:pPr algn="l">
              <a:spcAft>
                <a:spcPts val="200"/>
              </a:spcAft>
            </a:pPr>
            <a:r>
              <a:rPr sz="1100">
                <a:solidFill>
                  <a:srgbClr val="666666"/>
                </a:solidFill>
                <a:latin typeface="Calibri"/>
              </a:rPr>
              <a:t>        — Suite overview and install summary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591056"/>
            <a:ext cx="5394960" cy="27432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wrap="none" lIns="128016" rIns="128016" tIns="91440" bIns="91440">
            <a:spAutoFit/>
          </a:bodyPr>
          <a:lstStyle/>
          <a:p>
            <a:pPr>
              <a:spcAft>
                <a:spcPts val="0"/>
              </a:spcAft>
            </a:pPr>
            <a:r>
              <a:rPr sz="1100">
                <a:solidFill>
                  <a:srgbClr val="21295C"/>
                </a:solidFill>
                <a:latin typeface="Consolas"/>
              </a:rPr>
              <a:t># Clone the delivery repo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1295C"/>
                </a:solidFill>
                <a:latin typeface="Consolas"/>
              </a:rPr>
              <a:t>git clone &lt;repo-url&gt;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1295C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1295C"/>
                </a:solidFill>
                <a:latin typeface="Consolas"/>
              </a:rPr>
              <a:t># Install skills to your Claude skills directory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1295C"/>
                </a:solidFill>
                <a:latin typeface="Consolas"/>
              </a:rPr>
              <a:t>cp -r audit-orc/nav-orc/skills/* \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1295C"/>
                </a:solidFill>
                <a:latin typeface="Consolas"/>
              </a:rPr>
              <a:t>      ~/.claude/skills/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1295C"/>
                </a:solidFill>
                <a:latin typeface="Consolas"/>
              </a:rPr>
              <a:t>cp -r audit-orc/pt-orc/skills/*  \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1295C"/>
                </a:solidFill>
                <a:latin typeface="Consolas"/>
              </a:rPr>
              <a:t>      ~/.claude/skills/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4434840"/>
            <a:ext cx="53949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1">
                <a:solidFill>
                  <a:srgbClr val="666666"/>
                </a:solidFill>
                <a:latin typeface="Calibri"/>
              </a:rPr>
              <a:t>Repo access: ggerait/audit-orc (private).</a:t>
            </a:r>
          </a:p>
          <a:p>
            <a:pPr algn="l"/>
            <a:r>
              <a:rPr sz="1100" b="0" i="1">
                <a:solidFill>
                  <a:srgbClr val="666666"/>
                </a:solidFill>
                <a:latin typeface="Calibri"/>
              </a:rPr>
              <a:t>Access on request — ownership TBD (open question, slide 20).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528816"/>
            <a:ext cx="8229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Calibri"/>
              </a:rPr>
              <a:t>ORCa platform  ·  TechGuard  ·  2026-04-27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28655" y="6528816"/>
            <a:ext cx="10972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Calibri"/>
              </a:rPr>
              <a:t>13 / 20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880360"/>
            <a:ext cx="640080" cy="64008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92024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i="1">
                <a:solidFill>
                  <a:srgbClr val="CFE2F3"/>
                </a:solidFill>
                <a:latin typeface="Calibri"/>
              </a:rPr>
              <a:t>Part 3 of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063240"/>
            <a:ext cx="109728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600" b="1" i="0">
                <a:solidFill>
                  <a:srgbClr val="FFFFFF"/>
                </a:solidFill>
                <a:latin typeface="Georgia"/>
              </a:rPr>
              <a:t>Getting started + next steps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25196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 i="1">
                <a:solidFill>
                  <a:srgbClr val="CFE2F3"/>
                </a:solidFill>
                <a:latin typeface="Calibri"/>
              </a:rPr>
              <a:t>First session · Where we are · What we're developing · Open questions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55448"/>
            <a:ext cx="11460175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Getting started — three steps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170432"/>
            <a:ext cx="475488" cy="475488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170432"/>
            <a:ext cx="475488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" y="1170432"/>
            <a:ext cx="27432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21295C"/>
                </a:solidFill>
                <a:latin typeface="Calibri"/>
              </a:rPr>
              <a:t>Get the repo and install skills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1591056"/>
            <a:ext cx="7223760" cy="8229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wrap="none" lIns="128016" rIns="128016" tIns="91440" bIns="91440">
            <a:spAutoFit/>
          </a:bodyPr>
          <a:lstStyle/>
          <a:p>
            <a:pPr>
              <a:spcAft>
                <a:spcPts val="0"/>
              </a:spcAft>
            </a:pPr>
            <a:r>
              <a:rPr sz="1000">
                <a:solidFill>
                  <a:srgbClr val="21295C"/>
                </a:solidFill>
                <a:latin typeface="Consolas"/>
              </a:rPr>
              <a:t>git clone &lt;repo-url&gt;              # pull the delivery repo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21295C"/>
                </a:solidFill>
                <a:latin typeface="Consolas"/>
              </a:rPr>
              <a:t>cp -r nav-orc/skills/* ~/.claude/skills/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21295C"/>
                </a:solidFill>
                <a:latin typeface="Consolas"/>
              </a:rPr>
              <a:t>cp -r pt-orc/skills/*  ~/.claude/skills/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94192" y="1591056"/>
            <a:ext cx="33832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1">
                <a:solidFill>
                  <a:srgbClr val="666666"/>
                </a:solidFill>
                <a:latin typeface="Calibri"/>
              </a:rPr>
              <a:t>One-time. Skills persist</a:t>
            </a:r>
          </a:p>
          <a:p>
            <a:pPr algn="l"/>
            <a:r>
              <a:rPr sz="1100" b="0" i="1">
                <a:solidFill>
                  <a:srgbClr val="666666"/>
                </a:solidFill>
                <a:latin typeface="Calibri"/>
              </a:rPr>
              <a:t>across all future sessions.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834640"/>
            <a:ext cx="475488" cy="475488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2834640"/>
            <a:ext cx="475488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834640"/>
            <a:ext cx="27432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21295C"/>
                </a:solidFill>
                <a:latin typeface="Calibri"/>
              </a:rPr>
              <a:t>Load for a session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3255264"/>
            <a:ext cx="7223760" cy="8229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wrap="none" lIns="128016" rIns="128016" tIns="91440" bIns="91440">
            <a:spAutoFit/>
          </a:bodyPr>
          <a:lstStyle/>
          <a:p>
            <a:pPr>
              <a:spcAft>
                <a:spcPts val="0"/>
              </a:spcAft>
            </a:pPr>
            <a:r>
              <a:rPr sz="1000">
                <a:solidFill>
                  <a:srgbClr val="21295C"/>
                </a:solidFill>
                <a:latin typeface="Consolas"/>
              </a:rPr>
              <a:t>/nav_ext   # loads entire nav-orc suite in one command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21295C"/>
                </a:solidFill>
                <a:latin typeface="Consolas"/>
              </a:rPr>
              <a:t>/pt-orc    # PT-Orc engagement skills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94192" y="3255264"/>
            <a:ext cx="33832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1">
                <a:solidFill>
                  <a:srgbClr val="666666"/>
                </a:solidFill>
                <a:latin typeface="Calibri"/>
              </a:rPr>
              <a:t>nav_ext auto-loads the full suite.</a:t>
            </a:r>
          </a:p>
          <a:p>
            <a:pPr algn="l"/>
            <a:r>
              <a:rPr sz="1100" b="0" i="1">
                <a:solidFill>
                  <a:srgbClr val="666666"/>
                </a:solidFill>
                <a:latin typeface="Calibri"/>
              </a:rPr>
              <a:t>nav_project_proc loads itself on</a:t>
            </a:r>
          </a:p>
          <a:p>
            <a:pPr algn="l"/>
            <a:r>
              <a:rPr sz="1100" b="0" i="1">
                <a:solidFill>
                  <a:srgbClr val="666666"/>
                </a:solidFill>
                <a:latin typeface="Calibri"/>
              </a:rPr>
              <a:t>first 'nav project:' command.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4498848"/>
            <a:ext cx="475488" cy="475488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4498848"/>
            <a:ext cx="475488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" y="4498848"/>
            <a:ext cx="27432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21295C"/>
                </a:solidFill>
                <a:latin typeface="Calibri"/>
              </a:rPr>
              <a:t>Create a project and start working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" y="4919472"/>
            <a:ext cx="7223760" cy="9144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wrap="none" lIns="128016" rIns="128016" tIns="91440" bIns="91440">
            <a:spAutoFit/>
          </a:bodyPr>
          <a:lstStyle/>
          <a:p>
            <a:pPr>
              <a:spcAft>
                <a:spcPts val="0"/>
              </a:spcAft>
            </a:pPr>
            <a:r>
              <a:rPr sz="1000">
                <a:solidFill>
                  <a:srgbClr val="21295C"/>
                </a:solidFill>
                <a:latin typeface="Consolas"/>
              </a:rPr>
              <a:t>nav project: tg-infratest-q2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21295C"/>
                </a:solidFill>
                <a:latin typeface="Consolas"/>
              </a:rPr>
              <a:t>nav project log: session 1 — setup complete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21295C"/>
                </a:solidFill>
                <a:latin typeface="Consolas"/>
              </a:rPr>
              <a:t>tsk add: DNS enumeration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21295C"/>
                </a:solidFill>
                <a:latin typeface="Consolas"/>
              </a:rPr>
              <a:t>nav project offload   # checkpoint before leaving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94192" y="4919472"/>
            <a:ext cx="33832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1">
                <a:solidFill>
                  <a:srgbClr val="666666"/>
                </a:solidFill>
                <a:latin typeface="Calibri"/>
              </a:rPr>
              <a:t>Project name is yours —</a:t>
            </a:r>
          </a:p>
          <a:p>
            <a:pPr algn="l"/>
            <a:r>
              <a:rPr sz="1100" b="0" i="1">
                <a:solidFill>
                  <a:srgbClr val="666666"/>
                </a:solidFill>
                <a:latin typeface="Calibri"/>
              </a:rPr>
              <a:t>slug-style, no spaces.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00800"/>
            <a:ext cx="11430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1">
                <a:solidFill>
                  <a:srgbClr val="666666"/>
                </a:solidFill>
                <a:latin typeface="Calibri"/>
              </a:rPr>
              <a:t>Full walkthrough: docs/getting-started.md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6528816"/>
            <a:ext cx="8229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Calibri"/>
              </a:rPr>
              <a:t>ORCa platform  ·  TechGuard  ·  2026-04-27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728655" y="6528816"/>
            <a:ext cx="10972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Calibri"/>
              </a:rPr>
              <a:t>15 / 20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55448"/>
            <a:ext cx="11460175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Where we are — and where we're going together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04088"/>
            <a:ext cx="11460175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1">
                <a:solidFill>
                  <a:srgbClr val="CFE2F3"/>
                </a:solidFill>
                <a:latin typeface="Calibri"/>
              </a:rPr>
              <a:t>Initial release: foundation to build on and use actively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70432"/>
            <a:ext cx="5394960" cy="347472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5488" y="1207008"/>
            <a:ext cx="52120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In the initial release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0" y="1170432"/>
            <a:ext cx="5394960" cy="347472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10528" y="1207008"/>
            <a:ext cx="52120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Developing together from here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609344"/>
            <a:ext cx="56692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>
                <a:solidFill>
                  <a:srgbClr val="065A82"/>
                </a:solidFill>
                <a:latin typeface="Calibri"/>
              </a:rPr>
              <a:t>•  nav-orc skills (7) — /nav_ext loads full suite in one command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065A82"/>
                </a:solidFill>
                <a:latin typeface="Calibri"/>
              </a:rPr>
              <a:t>•  nav_project_proc auto-loads on first project command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065A82"/>
                </a:solidFill>
                <a:latin typeface="Calibri"/>
              </a:rPr>
              <a:t>•  pt-orc suite (7 phases + 7 skills)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065A82"/>
                </a:solidFill>
                <a:latin typeface="Calibri"/>
              </a:rPr>
              <a:t>•  Operator guides and README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065A82"/>
                </a:solidFill>
                <a:latin typeface="Calibri"/>
              </a:rPr>
              <a:t>•  Seat wrapper scripts (orc-seat-start.ps1 / .sh)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065A82"/>
                </a:solidFill>
                <a:latin typeface="Calibri"/>
              </a:rPr>
              <a:t>•  orc-nav-reindex tool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609344"/>
            <a:ext cx="53949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>
                <a:solidFill>
                  <a:srgbClr val="1E6E3A"/>
                </a:solidFill>
                <a:latin typeface="Calibri"/>
              </a:rPr>
              <a:t>•  Entra group → seat auto-detection (planned, M365-native)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1E6E3A"/>
                </a:solidFill>
                <a:latin typeface="Calibri"/>
              </a:rPr>
              <a:t>•  Key Vault per-section encryption (planned)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1E6E3A"/>
                </a:solidFill>
                <a:latin typeface="Calibri"/>
              </a:rPr>
              <a:t>•  Team onboarding at TechGuard — first engagement together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1E6E3A"/>
                </a:solidFill>
                <a:latin typeface="Calibri"/>
              </a:rPr>
              <a:t>•  Repo structure and skill set will evolve with use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1E6E3A"/>
                </a:solidFill>
                <a:latin typeface="Calibri"/>
              </a:rPr>
              <a:t>•  nav-orc v2 features (parked; will surface from field use)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1E6E3A"/>
                </a:solidFill>
                <a:latin typeface="Calibri"/>
              </a:rPr>
              <a:t>•  Additional PT phases and methodology as needed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5614416"/>
            <a:ext cx="11430000" cy="566928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5687568"/>
            <a:ext cx="11064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1">
                <a:solidFill>
                  <a:srgbClr val="21295C"/>
                </a:solidFill>
                <a:latin typeface="Calibri"/>
              </a:rPr>
              <a:t>This is an active start — not a finished product handed over. We use it, improve it, and shape it together.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528816"/>
            <a:ext cx="8229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Calibri"/>
              </a:rPr>
              <a:t>ORCa platform  ·  TechGuard  ·  2026-04-27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28655" y="6528816"/>
            <a:ext cx="10972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Calibri"/>
              </a:rPr>
              <a:t>16 / 20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880360"/>
            <a:ext cx="640080" cy="64008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92024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i="1">
                <a:solidFill>
                  <a:srgbClr val="CFE2F3"/>
                </a:solidFill>
                <a:latin typeface="Calibri"/>
              </a:rPr>
              <a:t>Part 4 of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063240"/>
            <a:ext cx="109728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600" b="1" i="0">
                <a:solidFill>
                  <a:srgbClr val="FFFFFF"/>
                </a:solidFill>
                <a:latin typeface="Georgia"/>
              </a:rPr>
              <a:t>TechGuard methodology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25196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 i="1">
                <a:solidFill>
                  <a:srgbClr val="CFE2F3"/>
                </a:solidFill>
                <a:latin typeface="Calibri"/>
              </a:rPr>
              <a:t>Unified lifecycle · Platform vision · Where we're heading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55448"/>
            <a:ext cx="11460175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TechGuard unified 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04088"/>
            <a:ext cx="11460175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1">
                <a:solidFill>
                  <a:srgbClr val="CFE2F3"/>
                </a:solidFill>
                <a:latin typeface="Calibri"/>
              </a:rPr>
              <a:t>One lifecycle for all engagements — Core Method + 6 MethodologyPacks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170432"/>
          <a:ext cx="5623560" cy="5166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</a:tblGrid>
              <a:tr h="516636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Stage</a:t>
                      </a:r>
                    </a:p>
                  </a:txBody>
                  <a:tcPr>
                    <a:solidFill>
                      <a:srgbClr val="065A82"/>
                    </a:solidFill>
                  </a:tcPr>
                </a:tc>
              </a:tr>
              <a:tr h="516636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1295C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1295C"/>
                          </a:solidFill>
                          <a:latin typeface="Calibri"/>
                        </a:rPr>
                        <a:t>Intake &amp; qualification</a:t>
                      </a:r>
                    </a:p>
                  </a:txBody>
                  <a:tcPr/>
                </a:tc>
              </a:tr>
              <a:tr h="516636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1295C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1295C"/>
                          </a:solidFill>
                          <a:latin typeface="Calibri"/>
                        </a:rPr>
                        <a:t>Scope &amp; authorization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516636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1295C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1295C"/>
                          </a:solidFill>
                          <a:latin typeface="Calibri"/>
                        </a:rPr>
                        <a:t>Planning &amp; work design</a:t>
                      </a:r>
                    </a:p>
                  </a:txBody>
                  <a:tcPr/>
                </a:tc>
              </a:tr>
              <a:tr h="516636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1295C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1295C"/>
                          </a:solidFill>
                          <a:latin typeface="Calibri"/>
                        </a:rPr>
                        <a:t>Evidence acquisition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516636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1295C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1295C"/>
                          </a:solidFill>
                          <a:latin typeface="Calibri"/>
                        </a:rPr>
                        <a:t>Analysis &amp; assessment</a:t>
                      </a:r>
                    </a:p>
                  </a:txBody>
                  <a:tcPr/>
                </a:tc>
              </a:tr>
              <a:tr h="516636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1295C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1295C"/>
                          </a:solidFill>
                          <a:latin typeface="Calibri"/>
                        </a:rPr>
                        <a:t>Synthesis &amp; findings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516636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1295C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1295C"/>
                          </a:solidFill>
                          <a:latin typeface="Calibri"/>
                        </a:rPr>
                        <a:t>QA &amp; review</a:t>
                      </a:r>
                    </a:p>
                  </a:txBody>
                  <a:tcPr/>
                </a:tc>
              </a:tr>
              <a:tr h="516636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1295C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1295C"/>
                          </a:solidFill>
                          <a:latin typeface="Calibri"/>
                        </a:rPr>
                        <a:t>Reporting &amp; delivery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516636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1295C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1295C"/>
                          </a:solidFill>
                          <a:latin typeface="Calibri"/>
                        </a:rPr>
                        <a:t>Closure &amp; improvement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6355080" y="1170432"/>
            <a:ext cx="5394960" cy="347472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64808" y="1207008"/>
            <a:ext cx="52120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Service modules  ·  6 MethodologyPacks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55080" y="1609344"/>
            <a:ext cx="539496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>
                <a:solidFill>
                  <a:srgbClr val="21295C"/>
                </a:solidFill>
                <a:latin typeface="Calibri"/>
              </a:rPr>
              <a:t>•  Standards consulting &amp; ISO 27001 prep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21295C"/>
                </a:solidFill>
                <a:latin typeface="Calibri"/>
              </a:rPr>
              <a:t>•  Penetration testing  (PT-Orc / PentestPack)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21295C"/>
                </a:solidFill>
                <a:latin typeface="Calibri"/>
              </a:rPr>
              <a:t>•  Gap analysis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21295C"/>
                </a:solidFill>
                <a:latin typeface="Calibri"/>
              </a:rPr>
              <a:t>•  Security assessment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21295C"/>
                </a:solidFill>
                <a:latin typeface="Calibri"/>
              </a:rPr>
              <a:t>•  Risk assessment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21295C"/>
                </a:solidFill>
                <a:latin typeface="Calibri"/>
              </a:rPr>
              <a:t>•  Remediation validation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6355080" y="3913632"/>
            <a:ext cx="5394960" cy="242316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37960" y="4005072"/>
            <a:ext cx="50292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065A82"/>
                </a:solidFill>
                <a:latin typeface="Calibri"/>
              </a:rPr>
              <a:t>Design principles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60" y="4407408"/>
            <a:ext cx="502920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>
                <a:solidFill>
                  <a:srgbClr val="21295C"/>
                </a:solidFill>
                <a:latin typeface="Calibri"/>
              </a:rPr>
              <a:t>•  Automation-first — routine steps executed by tools</a:t>
            </a:r>
          </a:p>
          <a:p>
            <a:pPr algn="l">
              <a:spcAft>
                <a:spcPts val="400"/>
              </a:spcAft>
            </a:pPr>
            <a:r>
              <a:rPr sz="1100">
                <a:solidFill>
                  <a:srgbClr val="21295C"/>
                </a:solidFill>
                <a:latin typeface="Calibri"/>
              </a:rPr>
              <a:t>•  Evidence-first conclusions — no unsupported findings</a:t>
            </a:r>
          </a:p>
          <a:p>
            <a:pPr algn="l">
              <a:spcAft>
                <a:spcPts val="400"/>
              </a:spcAft>
            </a:pPr>
            <a:r>
              <a:rPr sz="1100">
                <a:solidFill>
                  <a:srgbClr val="21295C"/>
                </a:solidFill>
                <a:latin typeface="Calibri"/>
              </a:rPr>
              <a:t>•  Human review at every stage gate</a:t>
            </a:r>
          </a:p>
          <a:p>
            <a:pPr algn="l">
              <a:spcAft>
                <a:spcPts val="400"/>
              </a:spcAft>
            </a:pPr>
            <a:r>
              <a:rPr sz="1100">
                <a:solidFill>
                  <a:srgbClr val="21295C"/>
                </a:solidFill>
                <a:latin typeface="Calibri"/>
              </a:rPr>
              <a:t>•  Explicit scope control and authorization throughout</a:t>
            </a:r>
          </a:p>
          <a:p>
            <a:pPr algn="l">
              <a:spcAft>
                <a:spcPts val="400"/>
              </a:spcAft>
            </a:pPr>
            <a:r>
              <a:rPr sz="1100">
                <a:solidFill>
                  <a:srgbClr val="21295C"/>
                </a:solidFill>
                <a:latin typeface="Calibri"/>
              </a:rPr>
              <a:t>•  One Core Method, many service modules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528816"/>
            <a:ext cx="8229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Calibri"/>
              </a:rPr>
              <a:t>ORCa platform  ·  TechGuard  ·  2026-04-27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28655" y="6528816"/>
            <a:ext cx="10972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Calibri"/>
              </a:rPr>
              <a:t>18 / 20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55448"/>
            <a:ext cx="11460175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Platform vision — tg-audit-orchestrator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04088"/>
            <a:ext cx="11460175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1">
                <a:solidFill>
                  <a:srgbClr val="CFE2F3"/>
                </a:solidFill>
                <a:latin typeface="Calibri"/>
              </a:rPr>
              <a:t>ORCa is the methodology and execution layer — the orchestrator ties it together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70432"/>
            <a:ext cx="11430000" cy="512064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25296"/>
            <a:ext cx="594360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onsolas"/>
              </a:rPr>
              <a:t>tg-audit-orchestrator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0" y="1225296"/>
            <a:ext cx="502920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 i="1">
                <a:solidFill>
                  <a:srgbClr val="CFE2F3"/>
                </a:solidFill>
                <a:latin typeface="Calibri"/>
              </a:rPr>
              <a:t>planned core  ·  intake · scope · dispatch · reporting · QA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810512"/>
            <a:ext cx="5394960" cy="2029968"/>
          </a:xfrm>
          <a:prstGeom prst="rect">
            <a:avLst/>
          </a:prstGeom>
          <a:solidFill>
            <a:srgbClr val="E5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810512"/>
            <a:ext cx="5394960" cy="365760"/>
          </a:xfrm>
          <a:prstGeom prst="rect">
            <a:avLst/>
          </a:prstGeom>
          <a:solidFill>
            <a:srgbClr val="1E6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856231"/>
            <a:ext cx="29260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PT-Orc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1865376"/>
            <a:ext cx="15544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1">
                <a:solidFill>
                  <a:srgbClr val="CFE2F3"/>
                </a:solidFill>
                <a:latin typeface="Calibri"/>
              </a:rPr>
              <a:t>existing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258568"/>
            <a:ext cx="5029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>
                <a:solidFill>
                  <a:srgbClr val="21295C"/>
                </a:solidFill>
                <a:latin typeface="Calibri"/>
              </a:rPr>
              <a:t>•  Phase-based pentest execution pipeline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21295C"/>
                </a:solidFill>
                <a:latin typeface="Calibri"/>
              </a:rPr>
              <a:t>•  7 phases: bootstrap → recon → enum → exploit → evidence → report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21295C"/>
                </a:solidFill>
                <a:latin typeface="Calibri"/>
              </a:rPr>
              <a:t>•  7 AI companion skills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0" y="1810512"/>
            <a:ext cx="5394960" cy="2029968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0" y="1810512"/>
            <a:ext cx="5394960" cy="36576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0" y="1856231"/>
            <a:ext cx="34747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EngagementCore + PentestPack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149840" y="1865376"/>
            <a:ext cx="15544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1">
                <a:solidFill>
                  <a:srgbClr val="CFE2F3"/>
                </a:solidFill>
                <a:latin typeface="Calibri"/>
              </a:rPr>
              <a:t>planned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2258568"/>
            <a:ext cx="5029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>
                <a:solidFill>
                  <a:srgbClr val="21295C"/>
                </a:solidFill>
                <a:latin typeface="Calibri"/>
              </a:rPr>
              <a:t>•  EngagementCore — planning kernel shared across all MethodologyPacks</a:t>
            </a:r>
          </a:p>
          <a:p>
            <a:pPr algn="l">
              <a:spcAft>
                <a:spcPts val="400"/>
              </a:spcAft>
            </a:pPr>
            <a:r>
              <a:rPr sz="1100">
                <a:solidFill>
                  <a:srgbClr val="21295C"/>
                </a:solidFill>
                <a:latin typeface="Calibri"/>
              </a:rPr>
              <a:t>•  PentestPack — adversarial specialist agents (one of 6 packs)</a:t>
            </a:r>
          </a:p>
          <a:p>
            <a:pPr algn="l">
              <a:spcAft>
                <a:spcPts val="400"/>
              </a:spcAft>
            </a:pPr>
            <a:r>
              <a:rPr sz="1100">
                <a:solidFill>
                  <a:srgbClr val="21295C"/>
                </a:solidFill>
                <a:latin typeface="Calibri"/>
              </a:rPr>
              <a:t>•  6 MethodologyPacks covering all TechGuard engagement types</a:t>
            </a:r>
          </a:p>
          <a:p>
            <a:pPr algn="l">
              <a:spcAft>
                <a:spcPts val="400"/>
              </a:spcAft>
            </a:pPr>
            <a:r>
              <a:rPr sz="1100">
                <a:solidFill>
                  <a:srgbClr val="21295C"/>
                </a:solidFill>
                <a:latin typeface="Calibri"/>
              </a:rPr>
              <a:t>•  Phase A: Decepticon planning kernel migrates to EngagementCore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3968496"/>
            <a:ext cx="5394960" cy="2029968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65760" y="3968496"/>
            <a:ext cx="5394960" cy="3657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4014215"/>
            <a:ext cx="38404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audit-evidence-processor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0" y="4023360"/>
            <a:ext cx="15544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1">
                <a:solidFill>
                  <a:srgbClr val="CFE2F3"/>
                </a:solidFill>
                <a:latin typeface="Calibri"/>
              </a:rPr>
              <a:t>existing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4416552"/>
            <a:ext cx="5029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>
                <a:solidFill>
                  <a:srgbClr val="21295C"/>
                </a:solidFill>
                <a:latin typeface="Calibri"/>
              </a:rPr>
              <a:t>•  Evidence normalization and thematic clustering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21295C"/>
                </a:solidFill>
                <a:latin typeface="Calibri"/>
              </a:rPr>
              <a:t>•  Convert, OCR, translate, and categorize raw evidence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21295C"/>
                </a:solidFill>
                <a:latin typeface="Calibri"/>
              </a:rPr>
              <a:t>•  Structured evidence corpus for analysis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0" y="3968496"/>
            <a:ext cx="5394960" cy="2029968"/>
          </a:xfrm>
          <a:prstGeom prst="rect">
            <a:avLst/>
          </a:prstGeom>
          <a:solidFill>
            <a:srgbClr val="E5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00800" y="3968496"/>
            <a:ext cx="5394960" cy="3657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80" y="4014215"/>
            <a:ext cx="32004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nav-tools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149840" y="4023360"/>
            <a:ext cx="15544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1">
                <a:solidFill>
                  <a:srgbClr val="CFE2F3"/>
                </a:solidFill>
                <a:latin typeface="Calibri"/>
              </a:rPr>
              <a:t>existing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0" y="4416552"/>
            <a:ext cx="5029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>
                <a:solidFill>
                  <a:srgbClr val="21295C"/>
                </a:solidFill>
                <a:latin typeface="Calibri"/>
              </a:rPr>
              <a:t>•  Shared methodology / document operating system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21295C"/>
                </a:solidFill>
                <a:latin typeface="Calibri"/>
              </a:rPr>
              <a:t>•  Indexed file navigation · persistent projects · seat access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21295C"/>
                </a:solidFill>
                <a:latin typeface="Calibri"/>
              </a:rPr>
              <a:t>•  Protocol layer for all TechGuard knowledge work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6080760"/>
            <a:ext cx="11430000" cy="530352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6163056"/>
            <a:ext cx="11064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ORCa delivers nav-tools + PT-Orc today.  EngagementCore + 6 MethodologyPacks bring the full TechGuard engagement model under tg-audit-orchestrator.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" y="6528816"/>
            <a:ext cx="8229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Calibri"/>
              </a:rPr>
              <a:t>ORCa platform  ·  TechGuard  ·  2026-04-27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728655" y="6528816"/>
            <a:ext cx="10972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Calibri"/>
              </a:rPr>
              <a:t>19 / 20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55448"/>
            <a:ext cx="11460175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Two open questions — then we start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170432"/>
            <a:ext cx="11430000" cy="201168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61872"/>
            <a:ext cx="1097280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065A82"/>
                </a:solidFill>
                <a:latin typeface="Calibri"/>
              </a:rPr>
              <a:t>1 — Repo ownership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719072"/>
            <a:ext cx="1097280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>
                <a:solidFill>
                  <a:srgbClr val="21295C"/>
                </a:solidFill>
                <a:latin typeface="Calibri"/>
              </a:rPr>
              <a:t>•  Currently: ggerait/audit-orc (private, personal account)</a:t>
            </a:r>
          </a:p>
          <a:p>
            <a:pPr algn="l">
              <a:spcAft>
                <a:spcPts val="400"/>
              </a:spcAft>
            </a:pPr>
            <a:r>
              <a:rPr sz="1400">
                <a:solidFill>
                  <a:srgbClr val="21295C"/>
                </a:solidFill>
                <a:latin typeface="Calibri"/>
              </a:rPr>
              <a:t>•  TechGuard-owned, joint, or personal with TG admin access?</a:t>
            </a:r>
          </a:p>
          <a:p>
            <a:pPr algn="l">
              <a:spcAft>
                <a:spcPts val="200"/>
              </a:spcAft>
            </a:pPr>
            <a:r>
              <a:rPr sz="1200">
                <a:solidFill>
                  <a:srgbClr val="666666"/>
                </a:solidFill>
                <a:latin typeface="Calibri"/>
              </a:rPr>
              <a:t>        — Determines who controls access, admin seat, and Entra integration path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3337560"/>
            <a:ext cx="11430000" cy="201168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3429000"/>
            <a:ext cx="1097280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065A82"/>
                </a:solidFill>
                <a:latin typeface="Calibri"/>
              </a:rPr>
              <a:t>2 — First engagement scope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886200"/>
            <a:ext cx="1097280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>
                <a:solidFill>
                  <a:srgbClr val="21295C"/>
                </a:solidFill>
                <a:latin typeface="Calibri"/>
              </a:rPr>
              <a:t>•  What engagement do we run first with ORCa?</a:t>
            </a:r>
          </a:p>
          <a:p>
            <a:pPr algn="l">
              <a:spcAft>
                <a:spcPts val="400"/>
              </a:spcAft>
            </a:pPr>
            <a:r>
              <a:rPr sz="1400">
                <a:solidFill>
                  <a:srgbClr val="21295C"/>
                </a:solidFill>
                <a:latin typeface="Calibri"/>
              </a:rPr>
              <a:t>•  Running the first session together shapes the platform</a:t>
            </a:r>
          </a:p>
          <a:p>
            <a:pPr algn="l">
              <a:spcAft>
                <a:spcPts val="200"/>
              </a:spcAft>
            </a:pPr>
            <a:r>
              <a:rPr sz="1200">
                <a:solidFill>
                  <a:srgbClr val="666666"/>
                </a:solidFill>
                <a:latin typeface="Calibri"/>
              </a:rPr>
              <a:t>        — Real scope, real targets, real findings — the fastest way to calibrate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5486400"/>
            <a:ext cx="11430000" cy="68580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5614416"/>
            <a:ext cx="1097280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ORCa is live. Skills ready. Repo available. Your confirmation + first engagement → we start.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528816"/>
            <a:ext cx="8229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Calibri"/>
              </a:rPr>
              <a:t>ORCa platform  ·  TechGuard  ·  2026-04-27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28655" y="6528816"/>
            <a:ext cx="10972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Calibri"/>
              </a:rPr>
              <a:t>20 / 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